
<file path=[Content_Types].xml><?xml version="1.0" encoding="utf-8"?>
<Types xmlns="http://schemas.openxmlformats.org/package/2006/content-types">
  <Default Extension="jpeg" ContentType="image/jpeg"/>
  <Default Extension="JPG" ContentType="image/.jp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 id="2147483660" r:id="rId3"/>
    <p:sldMasterId id="2147483672" r:id="rId4"/>
  </p:sldMasterIdLst>
  <p:notesMasterIdLst>
    <p:notesMasterId r:id="rId58"/>
  </p:notesMasterIdLst>
  <p:sldIdLst>
    <p:sldId id="452" r:id="rId5"/>
    <p:sldId id="545" r:id="rId6"/>
    <p:sldId id="541" r:id="rId7"/>
    <p:sldId id="542" r:id="rId8"/>
    <p:sldId id="546" r:id="rId9"/>
    <p:sldId id="577" r:id="rId10"/>
    <p:sldId id="548" r:id="rId11"/>
    <p:sldId id="547" r:id="rId12"/>
    <p:sldId id="549" r:id="rId13"/>
    <p:sldId id="550" r:id="rId14"/>
    <p:sldId id="551" r:id="rId15"/>
    <p:sldId id="552" r:id="rId16"/>
    <p:sldId id="553" r:id="rId17"/>
    <p:sldId id="554" r:id="rId18"/>
    <p:sldId id="555" r:id="rId19"/>
    <p:sldId id="558" r:id="rId20"/>
    <p:sldId id="557" r:id="rId21"/>
    <p:sldId id="559" r:id="rId22"/>
    <p:sldId id="560" r:id="rId23"/>
    <p:sldId id="561" r:id="rId24"/>
    <p:sldId id="565" r:id="rId25"/>
    <p:sldId id="562" r:id="rId26"/>
    <p:sldId id="568" r:id="rId27"/>
    <p:sldId id="566" r:id="rId28"/>
    <p:sldId id="564" r:id="rId29"/>
    <p:sldId id="569" r:id="rId30"/>
    <p:sldId id="570" r:id="rId31"/>
    <p:sldId id="571" r:id="rId32"/>
    <p:sldId id="572" r:id="rId33"/>
    <p:sldId id="593" r:id="rId34"/>
    <p:sldId id="594" r:id="rId35"/>
    <p:sldId id="573" r:id="rId36"/>
    <p:sldId id="574" r:id="rId37"/>
    <p:sldId id="575" r:id="rId38"/>
    <p:sldId id="598" r:id="rId39"/>
    <p:sldId id="596" r:id="rId40"/>
    <p:sldId id="597" r:id="rId41"/>
    <p:sldId id="591" r:id="rId42"/>
    <p:sldId id="592" r:id="rId43"/>
    <p:sldId id="578" r:id="rId44"/>
    <p:sldId id="579" r:id="rId45"/>
    <p:sldId id="580" r:id="rId46"/>
    <p:sldId id="581" r:id="rId47"/>
    <p:sldId id="582" r:id="rId48"/>
    <p:sldId id="583" r:id="rId49"/>
    <p:sldId id="584" r:id="rId50"/>
    <p:sldId id="585" r:id="rId51"/>
    <p:sldId id="586" r:id="rId52"/>
    <p:sldId id="587" r:id="rId53"/>
    <p:sldId id="588" r:id="rId54"/>
    <p:sldId id="595" r:id="rId55"/>
    <p:sldId id="589" r:id="rId56"/>
    <p:sldId id="387" r:id="rId57"/>
  </p:sldIdLst>
  <p:sldSz cx="9144000" cy="6858000" type="screen4x3"/>
  <p:notesSz cx="6858000" cy="9144000"/>
  <p:defaultTex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70" autoAdjust="0"/>
    <p:restoredTop sz="95674" autoAdjust="0"/>
  </p:normalViewPr>
  <p:slideViewPr>
    <p:cSldViewPr>
      <p:cViewPr>
        <p:scale>
          <a:sx n="72" d="100"/>
          <a:sy n="72" d="100"/>
        </p:scale>
        <p:origin x="-1302" y="750"/>
      </p:cViewPr>
      <p:guideLst>
        <p:guide orient="horz" pos="2160"/>
        <p:guide pos="2880"/>
      </p:guideLst>
    </p:cSldViewPr>
  </p:slideViewPr>
  <p:outlineViewPr>
    <p:cViewPr varScale="1">
      <p:scale>
        <a:sx n="170" d="200"/>
        <a:sy n="170" d="200"/>
      </p:scale>
      <p:origin x="-780" y="-84"/>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59" d="100"/>
          <a:sy n="59" d="100"/>
        </p:scale>
        <p:origin x="-175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1" Type="http://schemas.openxmlformats.org/officeDocument/2006/relationships/tableStyles" Target="tableStyles.xml"/><Relationship Id="rId60" Type="http://schemas.openxmlformats.org/officeDocument/2006/relationships/viewProps" Target="viewProps.xml"/><Relationship Id="rId6" Type="http://schemas.openxmlformats.org/officeDocument/2006/relationships/slide" Target="slides/slide2.xml"/><Relationship Id="rId59" Type="http://schemas.openxmlformats.org/officeDocument/2006/relationships/presProps" Target="presProps.xml"/><Relationship Id="rId58" Type="http://schemas.openxmlformats.org/officeDocument/2006/relationships/notesMaster" Target="notesMasters/notesMaster1.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Master" Target="slideMasters/slideMaster3.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5" name="AutoShape 1"/>
          <p:cNvSpPr>
            <a:spLocks noChangeArrowheads="1"/>
          </p:cNvSpPr>
          <p:nvPr/>
        </p:nvSpPr>
        <p:spPr bwMode="auto">
          <a:xfrm>
            <a:off x="0" y="0"/>
            <a:ext cx="6858000" cy="9144000"/>
          </a:xfrm>
          <a:prstGeom prst="roundRect">
            <a:avLst>
              <a:gd name="adj" fmla="val 23"/>
            </a:avLst>
          </a:prstGeom>
          <a:solidFill>
            <a:srgbClr val="FFFFFF"/>
          </a:solidFill>
          <a:ln w="9360">
            <a:noFill/>
            <a:miter lim="800000"/>
          </a:ln>
          <a:effectLst/>
        </p:spPr>
        <p:txBody>
          <a:bodyPr wrap="none" anchor="ctr"/>
          <a:lstStyle/>
          <a:p>
            <a:pPr>
              <a:defRPr/>
            </a:pPr>
            <a:endParaRPr lang="en-US"/>
          </a:p>
        </p:txBody>
      </p:sp>
      <p:sp>
        <p:nvSpPr>
          <p:cNvPr id="6146" name="AutoShape 2"/>
          <p:cNvSpPr>
            <a:spLocks noChangeArrowheads="1"/>
          </p:cNvSpPr>
          <p:nvPr/>
        </p:nvSpPr>
        <p:spPr bwMode="auto">
          <a:xfrm>
            <a:off x="0" y="0"/>
            <a:ext cx="6858000" cy="9144000"/>
          </a:xfrm>
          <a:prstGeom prst="roundRect">
            <a:avLst>
              <a:gd name="adj" fmla="val 23"/>
            </a:avLst>
          </a:prstGeom>
          <a:solidFill>
            <a:srgbClr val="FFFFFF"/>
          </a:solidFill>
          <a:ln w="9525">
            <a:noFill/>
            <a:round/>
          </a:ln>
          <a:effectLst/>
        </p:spPr>
        <p:txBody>
          <a:bodyPr wrap="none" anchor="ctr"/>
          <a:lstStyle/>
          <a:p>
            <a:pPr>
              <a:defRPr/>
            </a:pPr>
            <a:endParaRPr lang="en-US"/>
          </a:p>
        </p:txBody>
      </p:sp>
      <p:sp>
        <p:nvSpPr>
          <p:cNvPr id="6147" name="AutoShape 3"/>
          <p:cNvSpPr>
            <a:spLocks noChangeArrowheads="1"/>
          </p:cNvSpPr>
          <p:nvPr/>
        </p:nvSpPr>
        <p:spPr bwMode="auto">
          <a:xfrm>
            <a:off x="0" y="0"/>
            <a:ext cx="6858000" cy="9144000"/>
          </a:xfrm>
          <a:prstGeom prst="roundRect">
            <a:avLst>
              <a:gd name="adj" fmla="val 23"/>
            </a:avLst>
          </a:prstGeom>
          <a:solidFill>
            <a:srgbClr val="FFFFFF"/>
          </a:solidFill>
          <a:ln w="9525">
            <a:noFill/>
            <a:round/>
          </a:ln>
          <a:effectLst/>
        </p:spPr>
        <p:txBody>
          <a:bodyPr wrap="none" anchor="ctr"/>
          <a:lstStyle/>
          <a:p>
            <a:pPr>
              <a:defRPr/>
            </a:pPr>
            <a:endParaRPr lang="en-US"/>
          </a:p>
        </p:txBody>
      </p:sp>
      <p:sp>
        <p:nvSpPr>
          <p:cNvPr id="6148" name="Text Box 4"/>
          <p:cNvSpPr txBox="1">
            <a:spLocks noChangeArrowheads="1"/>
          </p:cNvSpPr>
          <p:nvPr/>
        </p:nvSpPr>
        <p:spPr bwMode="auto">
          <a:xfrm>
            <a:off x="0" y="0"/>
            <a:ext cx="2971800" cy="457200"/>
          </a:xfrm>
          <a:prstGeom prst="rect">
            <a:avLst/>
          </a:prstGeom>
          <a:noFill/>
          <a:ln w="9525">
            <a:noFill/>
            <a:round/>
          </a:ln>
          <a:effectLst/>
        </p:spPr>
        <p:txBody>
          <a:bodyPr wrap="none" anchor="ctr"/>
          <a:lstStyle/>
          <a:p>
            <a:pPr>
              <a:defRPr/>
            </a:pPr>
            <a:endParaRPr lang="en-US"/>
          </a:p>
        </p:txBody>
      </p:sp>
      <p:sp>
        <p:nvSpPr>
          <p:cNvPr id="6149" name="Rectangle 5"/>
          <p:cNvSpPr>
            <a:spLocks noGrp="1" noChangeArrowheads="1"/>
          </p:cNvSpPr>
          <p:nvPr>
            <p:ph type="dt"/>
          </p:nvPr>
        </p:nvSpPr>
        <p:spPr bwMode="auto">
          <a:xfrm>
            <a:off x="3884613" y="0"/>
            <a:ext cx="2967037" cy="452438"/>
          </a:xfrm>
          <a:prstGeom prst="rect">
            <a:avLst/>
          </a:prstGeom>
          <a:noFill/>
          <a:ln w="9525">
            <a:noFill/>
            <a:round/>
          </a:ln>
          <a:effectLst/>
        </p:spPr>
        <p:txBody>
          <a:bodyPr vert="horz" wrap="square" lIns="90000" tIns="46800" rIns="90000" bIns="46800" numCol="1" anchor="t" anchorCtr="0" compatLnSpc="1"/>
          <a:lstStyle>
            <a:lvl1pPr algn="r">
              <a:buClrTx/>
              <a:buFontTx/>
              <a:buNone/>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1200">
                <a:solidFill>
                  <a:srgbClr val="000000"/>
                </a:solidFill>
                <a:latin typeface="Calibri" panose="020F0502020204030204" charset="0"/>
                <a:ea typeface="DejaVu Sans" charset="0"/>
                <a:cs typeface="DejaVu Sans" charset="0"/>
              </a:defRPr>
            </a:lvl1pPr>
          </a:lstStyle>
          <a:p>
            <a:pPr>
              <a:defRPr/>
            </a:pPr>
            <a:endParaRPr lang="en-US"/>
          </a:p>
        </p:txBody>
      </p:sp>
      <p:sp>
        <p:nvSpPr>
          <p:cNvPr id="76807" name="Rectangle 6"/>
          <p:cNvSpPr>
            <a:spLocks noGrp="1" noRot="1" noChangeAspect="1" noChangeArrowheads="1"/>
          </p:cNvSpPr>
          <p:nvPr>
            <p:ph type="sldImg"/>
          </p:nvPr>
        </p:nvSpPr>
        <p:spPr bwMode="auto">
          <a:xfrm>
            <a:off x="1143000" y="685800"/>
            <a:ext cx="4567238" cy="3424238"/>
          </a:xfrm>
          <a:prstGeom prst="rect">
            <a:avLst/>
          </a:prstGeom>
          <a:noFill/>
          <a:ln w="12600">
            <a:solidFill>
              <a:srgbClr val="000000"/>
            </a:solidFill>
            <a:miter lim="800000"/>
          </a:ln>
        </p:spPr>
      </p:sp>
      <p:sp>
        <p:nvSpPr>
          <p:cNvPr id="6151" name="Rectangle 7"/>
          <p:cNvSpPr>
            <a:spLocks noGrp="1" noChangeArrowheads="1"/>
          </p:cNvSpPr>
          <p:nvPr>
            <p:ph type="body"/>
          </p:nvPr>
        </p:nvSpPr>
        <p:spPr bwMode="auto">
          <a:xfrm>
            <a:off x="685800" y="4343400"/>
            <a:ext cx="5481638" cy="4110038"/>
          </a:xfrm>
          <a:prstGeom prst="rect">
            <a:avLst/>
          </a:prstGeom>
          <a:noFill/>
          <a:ln w="9525">
            <a:noFill/>
            <a:round/>
          </a:ln>
          <a:effectLst/>
        </p:spPr>
        <p:txBody>
          <a:bodyPr vert="horz" wrap="square" lIns="90000" tIns="46800" rIns="90000" bIns="46800" numCol="1" anchor="t" anchorCtr="0" compatLnSpc="1"/>
          <a:lstStyle/>
          <a:p>
            <a:pPr lvl="0"/>
            <a:endParaRPr lang="en-US" noProof="0" smtClean="0"/>
          </a:p>
        </p:txBody>
      </p:sp>
      <p:sp>
        <p:nvSpPr>
          <p:cNvPr id="6152" name="Text Box 8"/>
          <p:cNvSpPr txBox="1">
            <a:spLocks noChangeArrowheads="1"/>
          </p:cNvSpPr>
          <p:nvPr/>
        </p:nvSpPr>
        <p:spPr bwMode="auto">
          <a:xfrm>
            <a:off x="0" y="8685213"/>
            <a:ext cx="2971800" cy="457200"/>
          </a:xfrm>
          <a:prstGeom prst="rect">
            <a:avLst/>
          </a:prstGeom>
          <a:noFill/>
          <a:ln w="9525">
            <a:noFill/>
            <a:round/>
          </a:ln>
          <a:effectLst/>
        </p:spPr>
        <p:txBody>
          <a:bodyPr wrap="none" anchor="ctr"/>
          <a:lstStyle/>
          <a:p>
            <a:pPr>
              <a:defRPr/>
            </a:pPr>
            <a:endParaRPr lang="en-US"/>
          </a:p>
        </p:txBody>
      </p:sp>
      <p:sp>
        <p:nvSpPr>
          <p:cNvPr id="6153" name="Rectangle 9"/>
          <p:cNvSpPr>
            <a:spLocks noGrp="1" noChangeArrowheads="1"/>
          </p:cNvSpPr>
          <p:nvPr>
            <p:ph type="sldNum"/>
          </p:nvPr>
        </p:nvSpPr>
        <p:spPr bwMode="auto">
          <a:xfrm>
            <a:off x="3884613" y="8685213"/>
            <a:ext cx="2967037" cy="452437"/>
          </a:xfrm>
          <a:prstGeom prst="rect">
            <a:avLst/>
          </a:prstGeom>
          <a:noFill/>
          <a:ln w="9525">
            <a:noFill/>
            <a:round/>
          </a:ln>
          <a:effectLst/>
        </p:spPr>
        <p:txBody>
          <a:bodyPr vert="horz" wrap="square" lIns="90000" tIns="46800" rIns="90000" bIns="46800" numCol="1" anchor="b" anchorCtr="0" compatLnSpc="1"/>
          <a:lstStyle>
            <a:lvl1pPr algn="r">
              <a:buClrTx/>
              <a:buFontTx/>
              <a:buNone/>
              <a:tabLst>
                <a:tab pos="0" algn="l"/>
                <a:tab pos="447675" algn="l"/>
                <a:tab pos="896620" algn="l"/>
                <a:tab pos="1346200" algn="l"/>
                <a:tab pos="1795145" algn="l"/>
                <a:tab pos="2244725" algn="l"/>
                <a:tab pos="2693670" algn="l"/>
                <a:tab pos="3143250" algn="l"/>
                <a:tab pos="3592195" algn="l"/>
                <a:tab pos="4041775" algn="l"/>
                <a:tab pos="4490720" algn="l"/>
                <a:tab pos="4940300" algn="l"/>
                <a:tab pos="5389245" algn="l"/>
                <a:tab pos="5838825" algn="l"/>
                <a:tab pos="6287770" algn="l"/>
                <a:tab pos="6737350" algn="l"/>
                <a:tab pos="7186295" algn="l"/>
                <a:tab pos="7635875" algn="l"/>
                <a:tab pos="8084820" algn="l"/>
                <a:tab pos="8534400" algn="l"/>
                <a:tab pos="8983345" algn="l"/>
              </a:tabLst>
              <a:defRPr sz="1200">
                <a:solidFill>
                  <a:srgbClr val="000000"/>
                </a:solidFill>
                <a:latin typeface="Calibri" panose="020F0502020204030204" charset="0"/>
                <a:ea typeface="DejaVu Sans" charset="0"/>
                <a:cs typeface="DejaVu Sans" charset="0"/>
              </a:defRPr>
            </a:lvl1pPr>
          </a:lstStyle>
          <a:p>
            <a:pPr>
              <a:defRPr/>
            </a:pPr>
            <a:fld id="{5BDE77E7-7D27-4140-B076-7D5B663F95F9}" type="slidenum">
              <a:rPr lang="en-US"/>
            </a:fld>
            <a:endParaRPr lang="en-US"/>
          </a:p>
        </p:txBody>
      </p:sp>
    </p:spTree>
  </p:cSld>
  <p:clrMap bg1="lt1" tx1="dk1" bg2="lt2" tx2="dk2" accent1="accent1" accent2="accent2" accent3="accent3" accent4="accent4" accent5="accent5" accent6="accent6" hlink="hlink" folHlink="folHlink"/>
  <p:notesStyle>
    <a:lvl1pPr algn="l" defTabSz="448945"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1pPr>
    <a:lvl2pPr marL="742950" indent="-285750" algn="l" defTabSz="448945"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2pPr>
    <a:lvl3pPr marL="1143000" indent="-228600" algn="l" defTabSz="448945"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3pPr>
    <a:lvl4pPr marL="1600200" indent="-228600" algn="l" defTabSz="448945"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4pPr>
    <a:lvl5pPr marL="2057400" indent="-228600" algn="l" defTabSz="448945" rtl="0" eaLnBrk="0" fontAlgn="base" hangingPunct="0">
      <a:spcBef>
        <a:spcPct val="30000"/>
      </a:spcBef>
      <a:spcAft>
        <a:spcPct val="0"/>
      </a:spcAft>
      <a:buClr>
        <a:srgbClr val="000000"/>
      </a:buClr>
      <a:buSzPct val="100000"/>
      <a:buFont typeface="Times New Roman" panose="02020603050405020304" pitchFamily="16" charset="0"/>
      <a:defRPr sz="1200" kern="1200">
        <a:solidFill>
          <a:srgbClr val="000000"/>
        </a:solidFill>
        <a:latin typeface="Times New Roman" panose="02020603050405020304" pitchFamily="16"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A349D63A-B6B8-4DC9-9AB3-6A8234A666BF}"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8DD5524A-1711-4E10-916C-96D5289EFECA}"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7C783926-6247-4021-977D-88C795AB4D0C}"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35163"/>
            <a:ext cx="4035425" cy="438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5025" y="1935163"/>
            <a:ext cx="4037013" cy="438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41F5F83E-50D9-4509-AB61-05913D74B82D}"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8" name="Rectangle 14"/>
          <p:cNvSpPr>
            <a:spLocks noGrp="1" noChangeArrowheads="1"/>
          </p:cNvSpPr>
          <p:nvPr>
            <p:ph type="sldNum" idx="11"/>
          </p:nvPr>
        </p:nvSpPr>
        <p:spPr/>
        <p:txBody>
          <a:bodyPr/>
          <a:lstStyle>
            <a:lvl1pPr>
              <a:defRPr/>
            </a:lvl1pPr>
          </a:lstStyle>
          <a:p>
            <a:pPr>
              <a:defRPr/>
            </a:pPr>
            <a:fld id="{8F644DE2-2225-4C46-94AA-30EE9431B7A9}"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4" name="Rectangle 14"/>
          <p:cNvSpPr>
            <a:spLocks noGrp="1" noChangeArrowheads="1"/>
          </p:cNvSpPr>
          <p:nvPr>
            <p:ph type="sldNum" idx="11"/>
          </p:nvPr>
        </p:nvSpPr>
        <p:spPr/>
        <p:txBody>
          <a:bodyPr/>
          <a:lstStyle>
            <a:lvl1pPr>
              <a:defRPr/>
            </a:lvl1pPr>
          </a:lstStyle>
          <a:p>
            <a:pPr>
              <a:defRPr/>
            </a:pPr>
            <a:fld id="{B5343D09-0077-40C7-AE4B-2AC0263EBD97}"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3" name="Rectangle 14"/>
          <p:cNvSpPr>
            <a:spLocks noGrp="1" noChangeArrowheads="1"/>
          </p:cNvSpPr>
          <p:nvPr>
            <p:ph type="sldNum" idx="11"/>
          </p:nvPr>
        </p:nvSpPr>
        <p:spPr/>
        <p:txBody>
          <a:bodyPr/>
          <a:lstStyle>
            <a:lvl1pPr>
              <a:defRPr/>
            </a:lvl1pPr>
          </a:lstStyle>
          <a:p>
            <a:pPr>
              <a:defRPr/>
            </a:pPr>
            <a:fld id="{97F2F76B-2FB1-4632-B101-347B22A4C0F6}"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D6B6CBF0-E0E3-4949-BB6A-11488D4739C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9D2583D7-EB1F-44B8-A4BD-FEDAFC60DA3C}"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D441E0FF-29C0-4F59-914C-15BD63C6FC87}"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5" y="269875"/>
            <a:ext cx="2055813" cy="6049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69875"/>
            <a:ext cx="6016625" cy="6049963"/>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A84DEEF8-A881-48A6-A188-CF5B059DF36B}"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915A5F45-C38C-42E4-BEC3-E7AEBAF471D2}"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5139C0D7-A169-4538-AEE1-11887B41F06A}" type="slidenum">
              <a:rPr lang="en-US"/>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endParaRPr lang="en-US" smtClean="0"/>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6BC552EA-AB89-4347-8534-F8B8EE233F81}"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935163"/>
            <a:ext cx="4035425" cy="438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5025" y="1935163"/>
            <a:ext cx="4037013" cy="43846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A8356B05-C8B1-48FC-921A-9E3CFC7AE3C1}"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8" name="Rectangle 14"/>
          <p:cNvSpPr>
            <a:spLocks noGrp="1" noChangeArrowheads="1"/>
          </p:cNvSpPr>
          <p:nvPr>
            <p:ph type="sldNum" idx="11"/>
          </p:nvPr>
        </p:nvSpPr>
        <p:spPr/>
        <p:txBody>
          <a:bodyPr/>
          <a:lstStyle>
            <a:lvl1pPr>
              <a:defRPr/>
            </a:lvl1pPr>
          </a:lstStyle>
          <a:p>
            <a:pPr>
              <a:defRPr/>
            </a:pPr>
            <a:fld id="{9D2246C0-CEE2-4B11-B09B-2B74989DB55E}" type="slidenum">
              <a:rPr lang="en-US"/>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4" name="Rectangle 14"/>
          <p:cNvSpPr>
            <a:spLocks noGrp="1" noChangeArrowheads="1"/>
          </p:cNvSpPr>
          <p:nvPr>
            <p:ph type="sldNum" idx="11"/>
          </p:nvPr>
        </p:nvSpPr>
        <p:spPr/>
        <p:txBody>
          <a:bodyPr/>
          <a:lstStyle>
            <a:lvl1pPr>
              <a:defRPr/>
            </a:lvl1pPr>
          </a:lstStyle>
          <a:p>
            <a:pPr>
              <a:defRPr/>
            </a:pPr>
            <a:fld id="{1C1581C7-A666-40B1-A65F-FE3BB53D719E}" type="slidenum">
              <a:rPr lang="en-US"/>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3" name="Rectangle 14"/>
          <p:cNvSpPr>
            <a:spLocks noGrp="1" noChangeArrowheads="1"/>
          </p:cNvSpPr>
          <p:nvPr>
            <p:ph type="sldNum" idx="11"/>
          </p:nvPr>
        </p:nvSpPr>
        <p:spPr/>
        <p:txBody>
          <a:bodyPr/>
          <a:lstStyle>
            <a:lvl1pPr>
              <a:defRPr/>
            </a:lvl1pPr>
          </a:lstStyle>
          <a:p>
            <a:pPr>
              <a:defRPr/>
            </a:pPr>
            <a:fld id="{56F75996-0146-4DAE-BDB4-0C83C6D26EF8}" type="slidenum">
              <a:rPr lang="en-US"/>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A0FAB43A-7E2F-493C-BCC6-692EF650256D}" type="slidenum">
              <a:rPr lang="en-US"/>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6" name="Rectangle 14"/>
          <p:cNvSpPr>
            <a:spLocks noGrp="1" noChangeArrowheads="1"/>
          </p:cNvSpPr>
          <p:nvPr>
            <p:ph type="sldNum" idx="11"/>
          </p:nvPr>
        </p:nvSpPr>
        <p:spPr/>
        <p:txBody>
          <a:bodyPr/>
          <a:lstStyle>
            <a:lvl1pPr>
              <a:defRPr/>
            </a:lvl1pPr>
          </a:lstStyle>
          <a:p>
            <a:pPr>
              <a:defRPr/>
            </a:pPr>
            <a:fld id="{5CF3DA73-A220-4503-BB36-B73244070B45}" type="slidenum">
              <a:rPr lang="en-US"/>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F5B0F339-0522-44BC-B566-526F2F492922}" type="slidenum">
              <a:rPr lang="en-US"/>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6225" y="269875"/>
            <a:ext cx="2055813" cy="604996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69875"/>
            <a:ext cx="6016625" cy="6049963"/>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Rectangle 12"/>
          <p:cNvSpPr>
            <a:spLocks noGrp="1" noChangeArrowheads="1"/>
          </p:cNvSpPr>
          <p:nvPr>
            <p:ph type="dt" idx="10"/>
          </p:nvPr>
        </p:nvSpPr>
        <p:spPr/>
        <p:txBody>
          <a:bodyPr/>
          <a:lstStyle>
            <a:lvl1pPr>
              <a:defRPr/>
            </a:lvl1pPr>
          </a:lstStyle>
          <a:p>
            <a:pPr>
              <a:defRPr/>
            </a:pPr>
            <a:r>
              <a:rPr lang="en-US" smtClean="0"/>
              <a:t>12/15/2018</a:t>
            </a:r>
            <a:endParaRPr lang="en-US"/>
          </a:p>
        </p:txBody>
      </p:sp>
      <p:sp>
        <p:nvSpPr>
          <p:cNvPr id="5" name="Rectangle 14"/>
          <p:cNvSpPr>
            <a:spLocks noGrp="1" noChangeArrowheads="1"/>
          </p:cNvSpPr>
          <p:nvPr>
            <p:ph type="sldNum" idx="11"/>
          </p:nvPr>
        </p:nvSpPr>
        <p:spPr/>
        <p:txBody>
          <a:bodyPr/>
          <a:lstStyle>
            <a:lvl1pPr>
              <a:defRPr/>
            </a:lvl1pPr>
          </a:lstStyle>
          <a:p>
            <a:pPr>
              <a:defRPr/>
            </a:pPr>
            <a:fld id="{45634D4F-352F-4CB1-ACFB-F7B7D79E88D5}" type="slidenum">
              <a:rPr lang="en-US"/>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pPr>
              <a:defRPr/>
            </a:pPr>
            <a:r>
              <a:rPr lang="en-US" smtClean="0"/>
              <a:t>12/15/2018</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9C5C6E1E-46A3-4008-B321-2224EA039B11}" type="slidenum">
              <a:rPr lang="en-US" smtClean="0"/>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r>
              <a:rPr lang="en-US" smtClean="0"/>
              <a:t>12/15/2018</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CB88C208-24FC-4ABF-9FF7-F4D473F197A0}" type="slidenum">
              <a:rPr lang="en-US" smtClean="0"/>
            </a:fld>
            <a:endParaRPr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pPr>
              <a:defRPr/>
            </a:pPr>
            <a:r>
              <a:rPr lang="en-US" smtClean="0"/>
              <a:t>12/15/2018</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62A1F67F-01D1-4D19-9436-B708FE3AC6D4}" type="slidenum">
              <a:rPr lang="en-US" smtClean="0"/>
            </a:fld>
            <a:endParaRPr lang="en-US"/>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pPr>
              <a:defRPr/>
            </a:pPr>
            <a:r>
              <a:rPr lang="en-US" smtClean="0"/>
              <a:t>12/15/2018</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E594AFE5-321F-4889-A717-B1F45CE08577}" type="slidenum">
              <a:rPr lang="en-US" smtClean="0"/>
            </a:fld>
            <a:endParaRPr lang="en-US"/>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pPr>
              <a:defRPr/>
            </a:pPr>
            <a:r>
              <a:rPr lang="en-US" smtClean="0"/>
              <a:t>12/15/2018</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a:defRPr/>
            </a:pPr>
            <a:fld id="{2DF76B37-B7ED-4AD7-BAD8-D1DA24D0389D}" type="slidenum">
              <a:rPr lang="en-US" smtClean="0"/>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r>
              <a:rPr lang="en-US" smtClean="0"/>
              <a:t>12/15/2018</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a:defRPr/>
            </a:pPr>
            <a:fld id="{B86F95DE-396A-4F0C-AAD2-2AF78443463D}" type="slidenum">
              <a:rPr lang="en-US" smtClean="0"/>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r>
              <a:rPr lang="en-US" smtClean="0"/>
              <a:t>12/15/2018</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a:defRPr/>
            </a:pPr>
            <a:fld id="{20538F9E-86D0-4582-ACA6-49831678EB8B}" type="slidenum">
              <a:rPr lang="en-US" smtClean="0"/>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r>
              <a:rPr lang="en-US" smtClean="0"/>
              <a:t>12/15/2018</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A74376BC-477C-4426-BCE8-A0956DCDBE72}" type="slidenum">
              <a:rPr lang="en-US" smtClean="0"/>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pPr>
              <a:defRPr/>
            </a:pPr>
            <a:r>
              <a:rPr lang="en-US" smtClean="0"/>
              <a:t>12/15/2018</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a:defRPr/>
            </a:pPr>
            <a:fld id="{7ED49CCD-E882-42B9-9B82-E50BC993CFC6}" type="slidenum">
              <a:rPr lang="en-US" smtClean="0"/>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r>
              <a:rPr lang="en-US" smtClean="0"/>
              <a:t>12/15/2018</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63B087E1-60E4-4A08-B8B0-1DAED8AFFD83}" type="slidenum">
              <a:rPr lang="en-US" smtClean="0"/>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r>
              <a:rPr lang="en-US" smtClean="0"/>
              <a:t>12/15/2018</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a:defRPr/>
            </a:pPr>
            <a:fld id="{A4F1BDAA-B25A-4D09-98D1-711D40F7C5DD}"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3.pn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1.xml"/><Relationship Id="rId8" Type="http://schemas.openxmlformats.org/officeDocument/2006/relationships/slideLayout" Target="../slideLayouts/slideLayout30.xml"/><Relationship Id="rId7" Type="http://schemas.openxmlformats.org/officeDocument/2006/relationships/slideLayout" Target="../slideLayouts/slideLayout29.xml"/><Relationship Id="rId6" Type="http://schemas.openxmlformats.org/officeDocument/2006/relationships/slideLayout" Target="../slideLayouts/slideLayout28.xml"/><Relationship Id="rId5" Type="http://schemas.openxmlformats.org/officeDocument/2006/relationships/slideLayout" Target="../slideLayouts/slideLayout27.xml"/><Relationship Id="rId4" Type="http://schemas.openxmlformats.org/officeDocument/2006/relationships/slideLayout" Target="../slideLayouts/slideLayout26.xml"/><Relationship Id="rId3" Type="http://schemas.openxmlformats.org/officeDocument/2006/relationships/slideLayout" Target="../slideLayouts/slideLayout25.xml"/><Relationship Id="rId2" Type="http://schemas.openxmlformats.org/officeDocument/2006/relationships/slideLayout" Target="../slideLayouts/slideLayout24.xml"/><Relationship Id="rId12" Type="http://schemas.openxmlformats.org/officeDocument/2006/relationships/theme" Target="../theme/theme3.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2049" name="AutoShape 1"/>
          <p:cNvSpPr>
            <a:spLocks noChangeArrowheads="1"/>
          </p:cNvSpPr>
          <p:nvPr/>
        </p:nvSpPr>
        <p:spPr bwMode="auto">
          <a:xfrm>
            <a:off x="-9525" y="-7938"/>
            <a:ext cx="9163050" cy="1041401"/>
          </a:xfrm>
          <a:custGeom>
            <a:avLst/>
            <a:gdLst>
              <a:gd name="T0" fmla="*/ 6 w 5772"/>
              <a:gd name="T1" fmla="*/ 2 h 656"/>
              <a:gd name="T2" fmla="*/ 2542 w 5772"/>
              <a:gd name="T3" fmla="*/ 0 h 656"/>
              <a:gd name="T4" fmla="*/ 4374 w 5772"/>
              <a:gd name="T5" fmla="*/ 367 h 656"/>
              <a:gd name="T6" fmla="*/ 5766 w 5772"/>
              <a:gd name="T7" fmla="*/ 55 h 656"/>
              <a:gd name="T8" fmla="*/ 5772 w 5772"/>
              <a:gd name="T9" fmla="*/ 213 h 656"/>
              <a:gd name="T10" fmla="*/ 4302 w 5772"/>
              <a:gd name="T11" fmla="*/ 439 h 656"/>
              <a:gd name="T12" fmla="*/ 1488 w 5772"/>
              <a:gd name="T13" fmla="*/ 201 h 656"/>
              <a:gd name="T14" fmla="*/ 0 w 5772"/>
              <a:gd name="T15" fmla="*/ 656 h 656"/>
              <a:gd name="T16" fmla="*/ 6 w 5772"/>
              <a:gd name="T17" fmla="*/ 2 h 656"/>
              <a:gd name="T18" fmla="*/ 0 w 5772"/>
              <a:gd name="T19" fmla="*/ 0 h 656"/>
              <a:gd name="T20" fmla="*/ 5772 w 5772"/>
              <a:gd name="T21" fmla="*/ 656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T18" t="T19" r="T20" b="T21"/>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EBF8"/>
              </a:gs>
              <a:gs pos="100000">
                <a:srgbClr val="0079AF">
                  <a:alpha val="45000"/>
                </a:srgbClr>
              </a:gs>
            </a:gsLst>
            <a:lin ang="5400000" scaled="1"/>
          </a:gradFill>
          <a:ln w="9525">
            <a:noFill/>
            <a:round/>
          </a:ln>
          <a:effectLst/>
        </p:spPr>
        <p:txBody>
          <a:bodyPr wrap="none" anchor="ctr"/>
          <a:lstStyle/>
          <a:p>
            <a:pPr>
              <a:defRPr/>
            </a:pPr>
            <a:endParaRPr lang="en-US"/>
          </a:p>
        </p:txBody>
      </p:sp>
      <p:sp>
        <p:nvSpPr>
          <p:cNvPr id="2050" name="AutoShape 2"/>
          <p:cNvSpPr>
            <a:spLocks noChangeArrowheads="1"/>
          </p:cNvSpPr>
          <p:nvPr/>
        </p:nvSpPr>
        <p:spPr bwMode="auto">
          <a:xfrm>
            <a:off x="4381500" y="-7938"/>
            <a:ext cx="4762500" cy="638176"/>
          </a:xfrm>
          <a:custGeom>
            <a:avLst/>
            <a:gdLst>
              <a:gd name="T0" fmla="*/ 0 w 3000"/>
              <a:gd name="T1" fmla="*/ 0 h 595"/>
              <a:gd name="T2" fmla="*/ 1668 w 3000"/>
              <a:gd name="T3" fmla="*/ 564 h 595"/>
              <a:gd name="T4" fmla="*/ 3000 w 3000"/>
              <a:gd name="T5" fmla="*/ 186 h 595"/>
              <a:gd name="T6" fmla="*/ 3000 w 3000"/>
              <a:gd name="T7" fmla="*/ 6 h 595"/>
              <a:gd name="T8" fmla="*/ 0 w 3000"/>
              <a:gd name="T9" fmla="*/ 0 h 595"/>
              <a:gd name="T10" fmla="*/ 0 w 3000"/>
              <a:gd name="T11" fmla="*/ 0 h 595"/>
              <a:gd name="T12" fmla="*/ 3000 w 3000"/>
              <a:gd name="T13" fmla="*/ 595 h 595"/>
            </a:gdLst>
            <a:ahLst/>
            <a:cxnLst>
              <a:cxn ang="0">
                <a:pos x="T0" y="T1"/>
              </a:cxn>
              <a:cxn ang="0">
                <a:pos x="T2" y="T3"/>
              </a:cxn>
              <a:cxn ang="0">
                <a:pos x="T4" y="T5"/>
              </a:cxn>
              <a:cxn ang="0">
                <a:pos x="T6" y="T7"/>
              </a:cxn>
              <a:cxn ang="0">
                <a:pos x="T8" y="T9"/>
              </a:cxn>
            </a:cxnLst>
            <a:rect l="T10" t="T11" r="T12" b="T13"/>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9BE5"/>
              </a:gs>
              <a:gs pos="100000">
                <a:srgbClr val="00ADB6">
                  <a:alpha val="45000"/>
                </a:srgbClr>
              </a:gs>
            </a:gsLst>
            <a:lin ang="5400000" scaled="1"/>
          </a:gradFill>
          <a:ln w="9525">
            <a:noFill/>
            <a:round/>
          </a:ln>
          <a:effectLst/>
        </p:spPr>
        <p:txBody>
          <a:bodyPr wrap="none" anchor="ctr"/>
          <a:lstStyle/>
          <a:p>
            <a:pPr>
              <a:defRPr/>
            </a:pPr>
            <a:endParaRPr lang="en-US"/>
          </a:p>
        </p:txBody>
      </p:sp>
      <p:grpSp>
        <p:nvGrpSpPr>
          <p:cNvPr id="9220" name="Group 3"/>
          <p:cNvGrpSpPr/>
          <p:nvPr/>
        </p:nvGrpSpPr>
        <p:grpSpPr bwMode="auto">
          <a:xfrm>
            <a:off x="-19050" y="203200"/>
            <a:ext cx="9175750" cy="642938"/>
            <a:chOff x="-12" y="128"/>
            <a:chExt cx="5780" cy="405"/>
          </a:xfrm>
        </p:grpSpPr>
        <p:grpSp>
          <p:nvGrpSpPr>
            <p:cNvPr id="9226" name="Group 4"/>
            <p:cNvGrpSpPr/>
            <p:nvPr/>
          </p:nvGrpSpPr>
          <p:grpSpPr bwMode="auto">
            <a:xfrm>
              <a:off x="-12" y="128"/>
              <a:ext cx="5769" cy="405"/>
              <a:chOff x="-12" y="128"/>
              <a:chExt cx="5769" cy="405"/>
            </a:xfrm>
          </p:grpSpPr>
          <p:pic>
            <p:nvPicPr>
              <p:cNvPr id="9230" name="Picture 5"/>
              <p:cNvPicPr>
                <a:picLocks noChangeAspect="1" noChangeArrowheads="1"/>
              </p:cNvPicPr>
              <p:nvPr/>
            </p:nvPicPr>
            <p:blipFill>
              <a:blip r:embed="rId13"/>
              <a:srcRect/>
              <a:stretch>
                <a:fillRect/>
              </a:stretch>
            </p:blipFill>
            <p:spPr bwMode="auto">
              <a:xfrm>
                <a:off x="2" y="128"/>
                <a:ext cx="5755" cy="405"/>
              </a:xfrm>
              <a:prstGeom prst="rect">
                <a:avLst/>
              </a:prstGeom>
              <a:noFill/>
              <a:ln w="9525">
                <a:noFill/>
                <a:round/>
              </a:ln>
            </p:spPr>
          </p:pic>
          <p:sp>
            <p:nvSpPr>
              <p:cNvPr id="2054" name="Text Box 6"/>
              <p:cNvSpPr txBox="1">
                <a:spLocks noChangeArrowheads="1"/>
              </p:cNvSpPr>
              <p:nvPr/>
            </p:nvSpPr>
            <p:spPr bwMode="auto">
              <a:xfrm rot="21420000">
                <a:off x="-12" y="302"/>
                <a:ext cx="0" cy="0"/>
              </a:xfrm>
              <a:prstGeom prst="rect">
                <a:avLst/>
              </a:prstGeom>
              <a:noFill/>
              <a:ln w="9525">
                <a:noFill/>
                <a:round/>
              </a:ln>
              <a:effectLst/>
            </p:spPr>
            <p:txBody>
              <a:bodyPr wrap="none" anchor="ctr"/>
              <a:lstStyle/>
              <a:p>
                <a:pPr>
                  <a:defRPr/>
                </a:pPr>
                <a:endParaRPr lang="en-US"/>
              </a:p>
            </p:txBody>
          </p:sp>
        </p:grpSp>
        <p:grpSp>
          <p:nvGrpSpPr>
            <p:cNvPr id="9227" name="Group 7"/>
            <p:cNvGrpSpPr/>
            <p:nvPr/>
          </p:nvGrpSpPr>
          <p:grpSpPr bwMode="auto">
            <a:xfrm>
              <a:off x="-12" y="156"/>
              <a:ext cx="5780" cy="351"/>
              <a:chOff x="-12" y="156"/>
              <a:chExt cx="5780" cy="351"/>
            </a:xfrm>
          </p:grpSpPr>
          <p:pic>
            <p:nvPicPr>
              <p:cNvPr id="9228" name="Picture 8"/>
              <p:cNvPicPr>
                <a:picLocks noChangeAspect="1" noChangeArrowheads="1"/>
              </p:cNvPicPr>
              <p:nvPr/>
            </p:nvPicPr>
            <p:blipFill>
              <a:blip r:embed="rId14"/>
              <a:srcRect/>
              <a:stretch>
                <a:fillRect/>
              </a:stretch>
            </p:blipFill>
            <p:spPr bwMode="auto">
              <a:xfrm>
                <a:off x="-2" y="156"/>
                <a:ext cx="5770" cy="351"/>
              </a:xfrm>
              <a:prstGeom prst="rect">
                <a:avLst/>
              </a:prstGeom>
              <a:noFill/>
              <a:ln w="9525">
                <a:noFill/>
                <a:round/>
              </a:ln>
            </p:spPr>
          </p:pic>
          <p:sp>
            <p:nvSpPr>
              <p:cNvPr id="2057" name="Text Box 9"/>
              <p:cNvSpPr txBox="1">
                <a:spLocks noChangeArrowheads="1"/>
              </p:cNvSpPr>
              <p:nvPr/>
            </p:nvSpPr>
            <p:spPr bwMode="auto">
              <a:xfrm rot="21420000">
                <a:off x="-12" y="330"/>
                <a:ext cx="0" cy="0"/>
              </a:xfrm>
              <a:prstGeom prst="rect">
                <a:avLst/>
              </a:prstGeom>
              <a:noFill/>
              <a:ln w="9525">
                <a:noFill/>
                <a:round/>
              </a:ln>
              <a:effectLst/>
            </p:spPr>
            <p:txBody>
              <a:bodyPr wrap="none" anchor="ctr"/>
              <a:lstStyle/>
              <a:p>
                <a:pPr>
                  <a:defRPr/>
                </a:pPr>
                <a:endParaRPr lang="en-US"/>
              </a:p>
            </p:txBody>
          </p:sp>
        </p:grpSp>
      </p:grpSp>
      <p:sp>
        <p:nvSpPr>
          <p:cNvPr id="9221" name="Rectangle 10"/>
          <p:cNvSpPr>
            <a:spLocks noGrp="1" noChangeArrowheads="1"/>
          </p:cNvSpPr>
          <p:nvPr>
            <p:ph type="title"/>
          </p:nvPr>
        </p:nvSpPr>
        <p:spPr bwMode="auto">
          <a:xfrm>
            <a:off x="457200" y="269875"/>
            <a:ext cx="8224838" cy="1568450"/>
          </a:xfrm>
          <a:prstGeom prst="rect">
            <a:avLst/>
          </a:prstGeom>
          <a:noFill/>
          <a:ln w="9525">
            <a:noFill/>
            <a:round/>
          </a:ln>
        </p:spPr>
        <p:txBody>
          <a:bodyPr vert="horz" wrap="square" lIns="0" tIns="46800" rIns="0" bIns="0" numCol="1" anchor="b" anchorCtr="0" compatLnSpc="1"/>
          <a:lstStyle/>
          <a:p>
            <a:pPr lvl="0"/>
            <a:r>
              <a:rPr lang="en-GB" smtClean="0"/>
              <a:t>Click to edit the title text format</a:t>
            </a:r>
            <a:endParaRPr lang="en-GB" smtClean="0"/>
          </a:p>
        </p:txBody>
      </p:sp>
      <p:sp>
        <p:nvSpPr>
          <p:cNvPr id="9222" name="Rectangle 11"/>
          <p:cNvSpPr>
            <a:spLocks noGrp="1" noChangeArrowheads="1"/>
          </p:cNvSpPr>
          <p:nvPr>
            <p:ph type="body" idx="1"/>
          </p:nvPr>
        </p:nvSpPr>
        <p:spPr bwMode="auto">
          <a:xfrm>
            <a:off x="457200" y="1935163"/>
            <a:ext cx="8224838" cy="4384675"/>
          </a:xfrm>
          <a:prstGeom prst="rect">
            <a:avLst/>
          </a:prstGeom>
          <a:noFill/>
          <a:ln w="9525">
            <a:noFill/>
            <a:round/>
          </a:ln>
        </p:spPr>
        <p:txBody>
          <a:bodyPr vert="horz" wrap="square" lIns="90000" tIns="46800" rIns="90000" bIns="46800" numCol="1" anchor="t" anchorCtr="0" compatLnSpc="1"/>
          <a:lstStyle/>
          <a:p>
            <a:pPr lvl="0"/>
            <a:r>
              <a:rPr lang="en-GB" smtClean="0"/>
              <a:t>Click to edit the outline text format</a:t>
            </a:r>
            <a:endParaRPr lang="en-GB" smtClean="0"/>
          </a:p>
          <a:p>
            <a:pPr lvl="1"/>
            <a:r>
              <a:rPr lang="en-GB" smtClean="0"/>
              <a:t>Second Outline Level</a:t>
            </a:r>
            <a:endParaRPr lang="en-GB" smtClean="0"/>
          </a:p>
          <a:p>
            <a:pPr lvl="2"/>
            <a:r>
              <a:rPr lang="en-GB" smtClean="0"/>
              <a:t>Third Outline Level</a:t>
            </a:r>
            <a:endParaRPr lang="en-GB" smtClean="0"/>
          </a:p>
          <a:p>
            <a:pPr lvl="3"/>
            <a:r>
              <a:rPr lang="en-GB" smtClean="0"/>
              <a:t>Fourth Outline Level</a:t>
            </a:r>
            <a:endParaRPr lang="en-GB" smtClean="0"/>
          </a:p>
          <a:p>
            <a:pPr lvl="4"/>
            <a:r>
              <a:rPr lang="en-GB" smtClean="0"/>
              <a:t>Fifth Outline Level</a:t>
            </a:r>
            <a:endParaRPr lang="en-GB" smtClean="0"/>
          </a:p>
          <a:p>
            <a:pPr lvl="4"/>
            <a:r>
              <a:rPr lang="en-GB" smtClean="0"/>
              <a:t>Sixth Outline Level</a:t>
            </a:r>
            <a:endParaRPr lang="en-GB" smtClean="0"/>
          </a:p>
          <a:p>
            <a:pPr lvl="4"/>
            <a:r>
              <a:rPr lang="en-GB" smtClean="0"/>
              <a:t>Seventh Outline Level</a:t>
            </a:r>
            <a:endParaRPr lang="en-GB" smtClean="0"/>
          </a:p>
        </p:txBody>
      </p:sp>
      <p:sp>
        <p:nvSpPr>
          <p:cNvPr id="2060" name="Rectangle 12"/>
          <p:cNvSpPr>
            <a:spLocks noGrp="1" noChangeArrowheads="1"/>
          </p:cNvSpPr>
          <p:nvPr>
            <p:ph type="dt"/>
          </p:nvPr>
        </p:nvSpPr>
        <p:spPr bwMode="auto">
          <a:xfrm>
            <a:off x="457200" y="6356350"/>
            <a:ext cx="2128838" cy="360363"/>
          </a:xfrm>
          <a:prstGeom prst="rect">
            <a:avLst/>
          </a:prstGeom>
          <a:noFill/>
          <a:ln w="9525">
            <a:noFill/>
            <a:round/>
          </a:ln>
          <a:effectLst/>
        </p:spPr>
        <p:txBody>
          <a:bodyPr vert="horz" wrap="square" lIns="0" tIns="0" rIns="0" bIns="0" numCol="1" anchor="b" anchorCtr="0" compatLnSpc="1"/>
          <a:lstStyle>
            <a:lvl1pPr>
              <a:buClrTx/>
              <a:buFontTx/>
              <a:buNone/>
              <a:tabLst>
                <a:tab pos="723900" algn="l"/>
                <a:tab pos="1447800" algn="l"/>
              </a:tabLst>
              <a:defRPr sz="1200">
                <a:solidFill>
                  <a:srgbClr val="D1EAEE"/>
                </a:solidFill>
                <a:latin typeface="+mn-lt"/>
                <a:ea typeface="DejaVu Sans" charset="0"/>
                <a:cs typeface="DejaVu Sans" charset="0"/>
              </a:defRPr>
            </a:lvl1pPr>
          </a:lstStyle>
          <a:p>
            <a:pPr>
              <a:defRPr/>
            </a:pPr>
            <a:r>
              <a:rPr lang="en-US" smtClean="0"/>
              <a:t>12/15/2018</a:t>
            </a:r>
            <a:endParaRPr lang="en-US"/>
          </a:p>
        </p:txBody>
      </p:sp>
      <p:sp>
        <p:nvSpPr>
          <p:cNvPr id="2061" name="Text Box 13"/>
          <p:cNvSpPr txBox="1">
            <a:spLocks noChangeArrowheads="1"/>
          </p:cNvSpPr>
          <p:nvPr/>
        </p:nvSpPr>
        <p:spPr bwMode="auto">
          <a:xfrm>
            <a:off x="2667000" y="6356350"/>
            <a:ext cx="3352800" cy="365125"/>
          </a:xfrm>
          <a:prstGeom prst="rect">
            <a:avLst/>
          </a:prstGeom>
          <a:noFill/>
          <a:ln w="9525">
            <a:noFill/>
            <a:round/>
          </a:ln>
          <a:effectLst/>
        </p:spPr>
        <p:txBody>
          <a:bodyPr wrap="none" anchor="ctr"/>
          <a:lstStyle/>
          <a:p>
            <a:pPr>
              <a:defRPr/>
            </a:pPr>
            <a:endParaRPr lang="en-US"/>
          </a:p>
        </p:txBody>
      </p:sp>
      <p:sp>
        <p:nvSpPr>
          <p:cNvPr id="2062" name="Rectangle 14"/>
          <p:cNvSpPr>
            <a:spLocks noGrp="1" noChangeArrowheads="1"/>
          </p:cNvSpPr>
          <p:nvPr>
            <p:ph type="sldNum"/>
          </p:nvPr>
        </p:nvSpPr>
        <p:spPr bwMode="auto">
          <a:xfrm>
            <a:off x="7924800" y="6356350"/>
            <a:ext cx="757238" cy="360363"/>
          </a:xfrm>
          <a:prstGeom prst="rect">
            <a:avLst/>
          </a:prstGeom>
          <a:noFill/>
          <a:ln w="9525">
            <a:noFill/>
            <a:round/>
          </a:ln>
          <a:effectLst/>
        </p:spPr>
        <p:txBody>
          <a:bodyPr vert="horz" wrap="square" lIns="0" tIns="0" rIns="0" bIns="0" numCol="1" anchor="b" anchorCtr="0" compatLnSpc="1"/>
          <a:lstStyle>
            <a:lvl1pPr algn="r">
              <a:buClrTx/>
              <a:buFontTx/>
              <a:buNone/>
              <a:tabLst>
                <a:tab pos="723900" algn="l"/>
              </a:tabLst>
              <a:defRPr sz="1200">
                <a:solidFill>
                  <a:srgbClr val="D1EAEE"/>
                </a:solidFill>
                <a:latin typeface="+mn-lt"/>
                <a:ea typeface="DejaVu Sans" charset="0"/>
                <a:cs typeface="DejaVu Sans" charset="0"/>
              </a:defRPr>
            </a:lvl1pPr>
          </a:lstStyle>
          <a:p>
            <a:pPr>
              <a:defRPr/>
            </a:pPr>
            <a:fld id="{D830EE67-CE8C-45D5-9397-4278F59CBAE4}"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mj-lt"/>
          <a:ea typeface="+mj-ea"/>
          <a:cs typeface="+mj-cs"/>
        </a:defRPr>
      </a:lvl1pPr>
      <a:lvl2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2pPr>
      <a:lvl3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3pPr>
      <a:lvl4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4pPr>
      <a:lvl5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5pPr>
      <a:lvl6pPr marL="25146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6pPr>
      <a:lvl7pPr marL="29718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7pPr>
      <a:lvl8pPr marL="34290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8pPr>
      <a:lvl9pPr marL="38862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9pPr>
    </p:titleStyle>
    <p:bodyStyle>
      <a:lvl1pPr marL="342900" indent="-342900" algn="l" defTabSz="448945" rtl="0" eaLnBrk="0" fontAlgn="base" hangingPunct="0">
        <a:spcBef>
          <a:spcPts val="650"/>
        </a:spcBef>
        <a:spcAft>
          <a:spcPct val="0"/>
        </a:spcAft>
        <a:buClr>
          <a:srgbClr val="000000"/>
        </a:buClr>
        <a:buSzPct val="100000"/>
        <a:buFont typeface="Times New Roman" panose="02020603050405020304" pitchFamily="16" charset="0"/>
        <a:buChar char="•"/>
        <a:defRPr sz="2600">
          <a:solidFill>
            <a:srgbClr val="FFFFFF"/>
          </a:solidFill>
          <a:latin typeface="+mn-lt"/>
          <a:ea typeface="+mn-ea"/>
          <a:cs typeface="+mn-cs"/>
        </a:defRPr>
      </a:lvl1pPr>
      <a:lvl2pPr marL="742950" indent="-285750" algn="l" defTabSz="448945" rtl="0" eaLnBrk="0" fontAlgn="base" hangingPunct="0">
        <a:spcBef>
          <a:spcPts val="600"/>
        </a:spcBef>
        <a:spcAft>
          <a:spcPct val="0"/>
        </a:spcAft>
        <a:buClr>
          <a:srgbClr val="000000"/>
        </a:buClr>
        <a:buSzPct val="100000"/>
        <a:buFont typeface="Times New Roman" panose="02020603050405020304" pitchFamily="16" charset="0"/>
        <a:buChar char="–"/>
        <a:defRPr sz="2400">
          <a:solidFill>
            <a:srgbClr val="FFFFFF"/>
          </a:solidFill>
          <a:latin typeface="+mn-lt"/>
          <a:ea typeface="+mn-ea"/>
          <a:cs typeface="+mn-cs"/>
        </a:defRPr>
      </a:lvl2pPr>
      <a:lvl3pPr marL="1143000" indent="-228600" algn="l" defTabSz="448945" rtl="0" eaLnBrk="0" fontAlgn="base" hangingPunct="0">
        <a:spcBef>
          <a:spcPts val="525"/>
        </a:spcBef>
        <a:spcAft>
          <a:spcPct val="0"/>
        </a:spcAft>
        <a:buClr>
          <a:srgbClr val="000000"/>
        </a:buClr>
        <a:buSzPct val="100000"/>
        <a:buFont typeface="Times New Roman" panose="02020603050405020304" pitchFamily="16" charset="0"/>
        <a:buChar char="•"/>
        <a:defRPr sz="2100">
          <a:solidFill>
            <a:srgbClr val="FFFFFF"/>
          </a:solidFill>
          <a:latin typeface="+mn-lt"/>
          <a:ea typeface="+mn-ea"/>
          <a:cs typeface="+mn-cs"/>
        </a:defRPr>
      </a:lvl3pPr>
      <a:lvl4pPr marL="1600200" indent="-228600" algn="l" defTabSz="448945" rtl="0" eaLnBrk="0" fontAlgn="base" hangingPunct="0">
        <a:spcBef>
          <a:spcPts val="500"/>
        </a:spcBef>
        <a:spcAft>
          <a:spcPct val="0"/>
        </a:spcAft>
        <a:buClr>
          <a:srgbClr val="000000"/>
        </a:buClr>
        <a:buSzPct val="100000"/>
        <a:buFont typeface="Times New Roman" panose="02020603050405020304" pitchFamily="16" charset="0"/>
        <a:buChar char="–"/>
        <a:defRPr sz="2000">
          <a:solidFill>
            <a:srgbClr val="FFFFFF"/>
          </a:solidFill>
          <a:latin typeface="+mn-lt"/>
          <a:ea typeface="+mn-ea"/>
          <a:cs typeface="+mn-cs"/>
        </a:defRPr>
      </a:lvl4pPr>
      <a:lvl5pPr marL="2057400" indent="-228600" algn="l" defTabSz="448945" rtl="0" eaLnBrk="0" fontAlgn="base" hangingPunct="0">
        <a:spcBef>
          <a:spcPts val="500"/>
        </a:spcBef>
        <a:spcAft>
          <a:spcPct val="0"/>
        </a:spcAft>
        <a:buClr>
          <a:srgbClr val="000000"/>
        </a:buClr>
        <a:buSzPct val="100000"/>
        <a:buFont typeface="Times New Roman" panose="02020603050405020304" pitchFamily="16" charset="0"/>
        <a:buChar char="»"/>
        <a:defRPr sz="2000">
          <a:solidFill>
            <a:srgbClr val="FFFFFF"/>
          </a:solidFill>
          <a:latin typeface="+mn-lt"/>
          <a:ea typeface="+mn-ea"/>
          <a:cs typeface="+mn-cs"/>
        </a:defRPr>
      </a:lvl5pPr>
      <a:lvl6pPr marL="25146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6pPr>
      <a:lvl7pPr marL="29718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7pPr>
      <a:lvl8pPr marL="34290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8pPr>
      <a:lvl9pPr marL="38862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3073" name="AutoShape 1"/>
          <p:cNvSpPr>
            <a:spLocks noChangeArrowheads="1"/>
          </p:cNvSpPr>
          <p:nvPr/>
        </p:nvSpPr>
        <p:spPr bwMode="auto">
          <a:xfrm>
            <a:off x="-9525" y="-7938"/>
            <a:ext cx="9163050" cy="1041401"/>
          </a:xfrm>
          <a:custGeom>
            <a:avLst/>
            <a:gdLst>
              <a:gd name="T0" fmla="*/ 6 w 5772"/>
              <a:gd name="T1" fmla="*/ 2 h 656"/>
              <a:gd name="T2" fmla="*/ 2542 w 5772"/>
              <a:gd name="T3" fmla="*/ 0 h 656"/>
              <a:gd name="T4" fmla="*/ 4374 w 5772"/>
              <a:gd name="T5" fmla="*/ 367 h 656"/>
              <a:gd name="T6" fmla="*/ 5766 w 5772"/>
              <a:gd name="T7" fmla="*/ 55 h 656"/>
              <a:gd name="T8" fmla="*/ 5772 w 5772"/>
              <a:gd name="T9" fmla="*/ 213 h 656"/>
              <a:gd name="T10" fmla="*/ 4302 w 5772"/>
              <a:gd name="T11" fmla="*/ 439 h 656"/>
              <a:gd name="T12" fmla="*/ 1488 w 5772"/>
              <a:gd name="T13" fmla="*/ 201 h 656"/>
              <a:gd name="T14" fmla="*/ 0 w 5772"/>
              <a:gd name="T15" fmla="*/ 656 h 656"/>
              <a:gd name="T16" fmla="*/ 6 w 5772"/>
              <a:gd name="T17" fmla="*/ 2 h 656"/>
              <a:gd name="T18" fmla="*/ 0 w 5772"/>
              <a:gd name="T19" fmla="*/ 0 h 656"/>
              <a:gd name="T20" fmla="*/ 5772 w 5772"/>
              <a:gd name="T21" fmla="*/ 656 h 6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T18" t="T19" r="T20" b="T21"/>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EBF8"/>
              </a:gs>
              <a:gs pos="100000">
                <a:srgbClr val="0079AF">
                  <a:alpha val="45000"/>
                </a:srgbClr>
              </a:gs>
            </a:gsLst>
            <a:lin ang="5400000" scaled="1"/>
          </a:gradFill>
          <a:ln w="9525">
            <a:noFill/>
            <a:round/>
          </a:ln>
          <a:effectLst/>
        </p:spPr>
        <p:txBody>
          <a:bodyPr wrap="none" anchor="ctr"/>
          <a:lstStyle/>
          <a:p>
            <a:pPr>
              <a:defRPr/>
            </a:pPr>
            <a:endParaRPr lang="en-US"/>
          </a:p>
        </p:txBody>
      </p:sp>
      <p:sp>
        <p:nvSpPr>
          <p:cNvPr id="3074" name="AutoShape 2"/>
          <p:cNvSpPr>
            <a:spLocks noChangeArrowheads="1"/>
          </p:cNvSpPr>
          <p:nvPr/>
        </p:nvSpPr>
        <p:spPr bwMode="auto">
          <a:xfrm>
            <a:off x="4381500" y="-7938"/>
            <a:ext cx="4762500" cy="638176"/>
          </a:xfrm>
          <a:custGeom>
            <a:avLst/>
            <a:gdLst>
              <a:gd name="T0" fmla="*/ 0 w 3000"/>
              <a:gd name="T1" fmla="*/ 0 h 595"/>
              <a:gd name="T2" fmla="*/ 1668 w 3000"/>
              <a:gd name="T3" fmla="*/ 564 h 595"/>
              <a:gd name="T4" fmla="*/ 3000 w 3000"/>
              <a:gd name="T5" fmla="*/ 186 h 595"/>
              <a:gd name="T6" fmla="*/ 3000 w 3000"/>
              <a:gd name="T7" fmla="*/ 6 h 595"/>
              <a:gd name="T8" fmla="*/ 0 w 3000"/>
              <a:gd name="T9" fmla="*/ 0 h 595"/>
              <a:gd name="T10" fmla="*/ 0 w 3000"/>
              <a:gd name="T11" fmla="*/ 0 h 595"/>
              <a:gd name="T12" fmla="*/ 3000 w 3000"/>
              <a:gd name="T13" fmla="*/ 595 h 595"/>
            </a:gdLst>
            <a:ahLst/>
            <a:cxnLst>
              <a:cxn ang="0">
                <a:pos x="T0" y="T1"/>
              </a:cxn>
              <a:cxn ang="0">
                <a:pos x="T2" y="T3"/>
              </a:cxn>
              <a:cxn ang="0">
                <a:pos x="T4" y="T5"/>
              </a:cxn>
              <a:cxn ang="0">
                <a:pos x="T6" y="T7"/>
              </a:cxn>
              <a:cxn ang="0">
                <a:pos x="T8" y="T9"/>
              </a:cxn>
            </a:cxnLst>
            <a:rect l="T10" t="T11" r="T12" b="T13"/>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0">
                <a:srgbClr val="009BE5"/>
              </a:gs>
              <a:gs pos="100000">
                <a:srgbClr val="00ADB6">
                  <a:alpha val="45000"/>
                </a:srgbClr>
              </a:gs>
            </a:gsLst>
            <a:lin ang="5400000" scaled="1"/>
          </a:gradFill>
          <a:ln w="9525">
            <a:noFill/>
            <a:round/>
          </a:ln>
          <a:effectLst/>
        </p:spPr>
        <p:txBody>
          <a:bodyPr wrap="none" anchor="ctr"/>
          <a:lstStyle/>
          <a:p>
            <a:pPr>
              <a:defRPr/>
            </a:pPr>
            <a:endParaRPr lang="en-US"/>
          </a:p>
        </p:txBody>
      </p:sp>
      <p:grpSp>
        <p:nvGrpSpPr>
          <p:cNvPr id="10244" name="Group 3"/>
          <p:cNvGrpSpPr/>
          <p:nvPr/>
        </p:nvGrpSpPr>
        <p:grpSpPr bwMode="auto">
          <a:xfrm>
            <a:off x="-19050" y="203200"/>
            <a:ext cx="9175750" cy="642938"/>
            <a:chOff x="-12" y="128"/>
            <a:chExt cx="5780" cy="405"/>
          </a:xfrm>
        </p:grpSpPr>
        <p:grpSp>
          <p:nvGrpSpPr>
            <p:cNvPr id="10250" name="Group 4"/>
            <p:cNvGrpSpPr/>
            <p:nvPr/>
          </p:nvGrpSpPr>
          <p:grpSpPr bwMode="auto">
            <a:xfrm>
              <a:off x="-12" y="128"/>
              <a:ext cx="5769" cy="405"/>
              <a:chOff x="-12" y="128"/>
              <a:chExt cx="5769" cy="405"/>
            </a:xfrm>
          </p:grpSpPr>
          <p:pic>
            <p:nvPicPr>
              <p:cNvPr id="10254" name="Picture 5"/>
              <p:cNvPicPr>
                <a:picLocks noChangeAspect="1" noChangeArrowheads="1"/>
              </p:cNvPicPr>
              <p:nvPr/>
            </p:nvPicPr>
            <p:blipFill>
              <a:blip r:embed="rId13"/>
              <a:srcRect/>
              <a:stretch>
                <a:fillRect/>
              </a:stretch>
            </p:blipFill>
            <p:spPr bwMode="auto">
              <a:xfrm>
                <a:off x="2" y="128"/>
                <a:ext cx="5755" cy="405"/>
              </a:xfrm>
              <a:prstGeom prst="rect">
                <a:avLst/>
              </a:prstGeom>
              <a:noFill/>
              <a:ln w="9525">
                <a:noFill/>
                <a:round/>
              </a:ln>
            </p:spPr>
          </p:pic>
          <p:sp>
            <p:nvSpPr>
              <p:cNvPr id="3078" name="Text Box 6"/>
              <p:cNvSpPr txBox="1">
                <a:spLocks noChangeArrowheads="1"/>
              </p:cNvSpPr>
              <p:nvPr/>
            </p:nvSpPr>
            <p:spPr bwMode="auto">
              <a:xfrm rot="21420000">
                <a:off x="-12" y="302"/>
                <a:ext cx="0" cy="0"/>
              </a:xfrm>
              <a:prstGeom prst="rect">
                <a:avLst/>
              </a:prstGeom>
              <a:noFill/>
              <a:ln w="9525">
                <a:noFill/>
                <a:round/>
              </a:ln>
              <a:effectLst/>
            </p:spPr>
            <p:txBody>
              <a:bodyPr wrap="none" anchor="ctr"/>
              <a:lstStyle/>
              <a:p>
                <a:pPr>
                  <a:defRPr/>
                </a:pPr>
                <a:endParaRPr lang="en-US"/>
              </a:p>
            </p:txBody>
          </p:sp>
        </p:grpSp>
        <p:grpSp>
          <p:nvGrpSpPr>
            <p:cNvPr id="10251" name="Group 7"/>
            <p:cNvGrpSpPr/>
            <p:nvPr/>
          </p:nvGrpSpPr>
          <p:grpSpPr bwMode="auto">
            <a:xfrm>
              <a:off x="-12" y="156"/>
              <a:ext cx="5780" cy="351"/>
              <a:chOff x="-12" y="156"/>
              <a:chExt cx="5780" cy="351"/>
            </a:xfrm>
          </p:grpSpPr>
          <p:pic>
            <p:nvPicPr>
              <p:cNvPr id="10252" name="Picture 8"/>
              <p:cNvPicPr>
                <a:picLocks noChangeAspect="1" noChangeArrowheads="1"/>
              </p:cNvPicPr>
              <p:nvPr/>
            </p:nvPicPr>
            <p:blipFill>
              <a:blip r:embed="rId14"/>
              <a:srcRect/>
              <a:stretch>
                <a:fillRect/>
              </a:stretch>
            </p:blipFill>
            <p:spPr bwMode="auto">
              <a:xfrm>
                <a:off x="-2" y="156"/>
                <a:ext cx="5770" cy="351"/>
              </a:xfrm>
              <a:prstGeom prst="rect">
                <a:avLst/>
              </a:prstGeom>
              <a:noFill/>
              <a:ln w="9525">
                <a:noFill/>
                <a:round/>
              </a:ln>
            </p:spPr>
          </p:pic>
          <p:sp>
            <p:nvSpPr>
              <p:cNvPr id="3081" name="Text Box 9"/>
              <p:cNvSpPr txBox="1">
                <a:spLocks noChangeArrowheads="1"/>
              </p:cNvSpPr>
              <p:nvPr/>
            </p:nvSpPr>
            <p:spPr bwMode="auto">
              <a:xfrm rot="21420000">
                <a:off x="-12" y="330"/>
                <a:ext cx="0" cy="0"/>
              </a:xfrm>
              <a:prstGeom prst="rect">
                <a:avLst/>
              </a:prstGeom>
              <a:noFill/>
              <a:ln w="9525">
                <a:noFill/>
                <a:round/>
              </a:ln>
              <a:effectLst/>
            </p:spPr>
            <p:txBody>
              <a:bodyPr wrap="none" anchor="ctr"/>
              <a:lstStyle/>
              <a:p>
                <a:pPr>
                  <a:defRPr/>
                </a:pPr>
                <a:endParaRPr lang="en-US"/>
              </a:p>
            </p:txBody>
          </p:sp>
        </p:grpSp>
      </p:grpSp>
      <p:sp>
        <p:nvSpPr>
          <p:cNvPr id="10245" name="Rectangle 10"/>
          <p:cNvSpPr>
            <a:spLocks noGrp="1" noChangeArrowheads="1"/>
          </p:cNvSpPr>
          <p:nvPr>
            <p:ph type="title"/>
          </p:nvPr>
        </p:nvSpPr>
        <p:spPr bwMode="auto">
          <a:xfrm>
            <a:off x="457200" y="269875"/>
            <a:ext cx="8224838" cy="1568450"/>
          </a:xfrm>
          <a:prstGeom prst="rect">
            <a:avLst/>
          </a:prstGeom>
          <a:noFill/>
          <a:ln w="9525">
            <a:noFill/>
            <a:round/>
          </a:ln>
        </p:spPr>
        <p:txBody>
          <a:bodyPr vert="horz" wrap="square" lIns="0" tIns="46800" rIns="0" bIns="0" numCol="1" anchor="b" anchorCtr="0" compatLnSpc="1"/>
          <a:lstStyle/>
          <a:p>
            <a:pPr lvl="0"/>
            <a:r>
              <a:rPr lang="en-GB" smtClean="0"/>
              <a:t>Click to edit the title text format</a:t>
            </a:r>
            <a:endParaRPr lang="en-GB" smtClean="0"/>
          </a:p>
        </p:txBody>
      </p:sp>
      <p:sp>
        <p:nvSpPr>
          <p:cNvPr id="10246" name="Rectangle 11"/>
          <p:cNvSpPr>
            <a:spLocks noGrp="1" noChangeArrowheads="1"/>
          </p:cNvSpPr>
          <p:nvPr>
            <p:ph type="body" idx="1"/>
          </p:nvPr>
        </p:nvSpPr>
        <p:spPr bwMode="auto">
          <a:xfrm>
            <a:off x="457200" y="1935163"/>
            <a:ext cx="8224838" cy="4384675"/>
          </a:xfrm>
          <a:prstGeom prst="rect">
            <a:avLst/>
          </a:prstGeom>
          <a:noFill/>
          <a:ln w="9525">
            <a:noFill/>
            <a:round/>
          </a:ln>
        </p:spPr>
        <p:txBody>
          <a:bodyPr vert="horz" wrap="square" lIns="90000" tIns="46800" rIns="90000" bIns="46800" numCol="1" anchor="t" anchorCtr="0" compatLnSpc="1"/>
          <a:lstStyle/>
          <a:p>
            <a:pPr lvl="0"/>
            <a:r>
              <a:rPr lang="en-GB" smtClean="0"/>
              <a:t>Click to edit the outline text format</a:t>
            </a:r>
            <a:endParaRPr lang="en-GB" smtClean="0"/>
          </a:p>
          <a:p>
            <a:pPr lvl="1"/>
            <a:r>
              <a:rPr lang="en-GB" smtClean="0"/>
              <a:t>Second Outline Level</a:t>
            </a:r>
            <a:endParaRPr lang="en-GB" smtClean="0"/>
          </a:p>
          <a:p>
            <a:pPr lvl="2"/>
            <a:r>
              <a:rPr lang="en-GB" smtClean="0"/>
              <a:t>Third Outline Level</a:t>
            </a:r>
            <a:endParaRPr lang="en-GB" smtClean="0"/>
          </a:p>
          <a:p>
            <a:pPr lvl="3"/>
            <a:r>
              <a:rPr lang="en-GB" smtClean="0"/>
              <a:t>Fourth Outline Level</a:t>
            </a:r>
            <a:endParaRPr lang="en-GB" smtClean="0"/>
          </a:p>
          <a:p>
            <a:pPr lvl="4"/>
            <a:r>
              <a:rPr lang="en-GB" smtClean="0"/>
              <a:t>Fifth Outline Level</a:t>
            </a:r>
            <a:endParaRPr lang="en-GB" smtClean="0"/>
          </a:p>
          <a:p>
            <a:pPr lvl="4"/>
            <a:r>
              <a:rPr lang="en-GB" smtClean="0"/>
              <a:t>Sixth Outline Level</a:t>
            </a:r>
            <a:endParaRPr lang="en-GB" smtClean="0"/>
          </a:p>
          <a:p>
            <a:pPr lvl="4"/>
            <a:r>
              <a:rPr lang="en-GB" smtClean="0"/>
              <a:t>Seventh Outline Level</a:t>
            </a:r>
            <a:endParaRPr lang="en-GB" smtClean="0"/>
          </a:p>
        </p:txBody>
      </p:sp>
      <p:sp>
        <p:nvSpPr>
          <p:cNvPr id="3084" name="Rectangle 12"/>
          <p:cNvSpPr>
            <a:spLocks noGrp="1" noChangeArrowheads="1"/>
          </p:cNvSpPr>
          <p:nvPr>
            <p:ph type="dt"/>
          </p:nvPr>
        </p:nvSpPr>
        <p:spPr bwMode="auto">
          <a:xfrm>
            <a:off x="457200" y="6356350"/>
            <a:ext cx="2128838" cy="360363"/>
          </a:xfrm>
          <a:prstGeom prst="rect">
            <a:avLst/>
          </a:prstGeom>
          <a:noFill/>
          <a:ln w="9525">
            <a:noFill/>
            <a:round/>
          </a:ln>
          <a:effectLst/>
        </p:spPr>
        <p:txBody>
          <a:bodyPr vert="horz" wrap="square" lIns="0" tIns="0" rIns="0" bIns="0" numCol="1" anchor="b" anchorCtr="0" compatLnSpc="1"/>
          <a:lstStyle>
            <a:lvl1pPr>
              <a:buClrTx/>
              <a:buFontTx/>
              <a:buNone/>
              <a:tabLst>
                <a:tab pos="723900" algn="l"/>
                <a:tab pos="1447800" algn="l"/>
              </a:tabLst>
              <a:defRPr sz="1200">
                <a:solidFill>
                  <a:srgbClr val="D1EAEE"/>
                </a:solidFill>
                <a:latin typeface="+mn-lt"/>
                <a:ea typeface="DejaVu Sans" charset="0"/>
                <a:cs typeface="DejaVu Sans" charset="0"/>
              </a:defRPr>
            </a:lvl1pPr>
          </a:lstStyle>
          <a:p>
            <a:pPr>
              <a:defRPr/>
            </a:pPr>
            <a:r>
              <a:rPr lang="en-US" smtClean="0"/>
              <a:t>12/15/2018</a:t>
            </a:r>
            <a:endParaRPr lang="en-US"/>
          </a:p>
        </p:txBody>
      </p:sp>
      <p:sp>
        <p:nvSpPr>
          <p:cNvPr id="3085" name="Text Box 13"/>
          <p:cNvSpPr txBox="1">
            <a:spLocks noChangeArrowheads="1"/>
          </p:cNvSpPr>
          <p:nvPr/>
        </p:nvSpPr>
        <p:spPr bwMode="auto">
          <a:xfrm>
            <a:off x="2667000" y="6356350"/>
            <a:ext cx="3352800" cy="365125"/>
          </a:xfrm>
          <a:prstGeom prst="rect">
            <a:avLst/>
          </a:prstGeom>
          <a:noFill/>
          <a:ln w="9525">
            <a:noFill/>
            <a:round/>
          </a:ln>
          <a:effectLst/>
        </p:spPr>
        <p:txBody>
          <a:bodyPr wrap="none" anchor="ctr"/>
          <a:lstStyle/>
          <a:p>
            <a:pPr>
              <a:defRPr/>
            </a:pPr>
            <a:endParaRPr lang="en-US"/>
          </a:p>
        </p:txBody>
      </p:sp>
      <p:sp>
        <p:nvSpPr>
          <p:cNvPr id="3086" name="Rectangle 14"/>
          <p:cNvSpPr>
            <a:spLocks noGrp="1" noChangeArrowheads="1"/>
          </p:cNvSpPr>
          <p:nvPr>
            <p:ph type="sldNum"/>
          </p:nvPr>
        </p:nvSpPr>
        <p:spPr bwMode="auto">
          <a:xfrm>
            <a:off x="7924800" y="6356350"/>
            <a:ext cx="757238" cy="360363"/>
          </a:xfrm>
          <a:prstGeom prst="rect">
            <a:avLst/>
          </a:prstGeom>
          <a:noFill/>
          <a:ln w="9525">
            <a:noFill/>
            <a:round/>
          </a:ln>
          <a:effectLst/>
        </p:spPr>
        <p:txBody>
          <a:bodyPr vert="horz" wrap="square" lIns="0" tIns="0" rIns="0" bIns="0" numCol="1" anchor="b" anchorCtr="0" compatLnSpc="1"/>
          <a:lstStyle>
            <a:lvl1pPr algn="r">
              <a:buClrTx/>
              <a:buFontTx/>
              <a:buNone/>
              <a:tabLst>
                <a:tab pos="723900" algn="l"/>
              </a:tabLst>
              <a:defRPr sz="1200">
                <a:solidFill>
                  <a:srgbClr val="D1EAEE"/>
                </a:solidFill>
                <a:latin typeface="+mn-lt"/>
                <a:ea typeface="DejaVu Sans" charset="0"/>
                <a:cs typeface="DejaVu Sans" charset="0"/>
              </a:defRPr>
            </a:lvl1pPr>
          </a:lstStyle>
          <a:p>
            <a:pPr>
              <a:defRPr/>
            </a:pPr>
            <a:fld id="{641A0B93-06C0-48C5-A26D-9BF19C5BC856}" type="slidenum">
              <a:rPr lang="en-US"/>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mj-lt"/>
          <a:ea typeface="+mj-ea"/>
          <a:cs typeface="+mj-cs"/>
        </a:defRPr>
      </a:lvl1pPr>
      <a:lvl2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2pPr>
      <a:lvl3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3pPr>
      <a:lvl4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4pPr>
      <a:lvl5pPr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5pPr>
      <a:lvl6pPr marL="25146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6pPr>
      <a:lvl7pPr marL="29718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7pPr>
      <a:lvl8pPr marL="34290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8pPr>
      <a:lvl9pPr marL="3886200" indent="-228600" algn="l" defTabSz="448945" rtl="0" eaLnBrk="0" fontAlgn="base" hangingPunct="0">
        <a:spcBef>
          <a:spcPct val="0"/>
        </a:spcBef>
        <a:spcAft>
          <a:spcPct val="0"/>
        </a:spcAft>
        <a:buClr>
          <a:srgbClr val="000000"/>
        </a:buClr>
        <a:buSzPct val="100000"/>
        <a:buFont typeface="Times New Roman" panose="02020603050405020304" pitchFamily="16" charset="0"/>
        <a:defRPr sz="5000">
          <a:solidFill>
            <a:srgbClr val="DBF5F9"/>
          </a:solidFill>
          <a:latin typeface="Calibri" panose="020F0502020204030204" charset="0"/>
          <a:ea typeface="WenQuanYi Micro Hei" charset="0"/>
          <a:cs typeface="WenQuanYi Micro Hei" charset="0"/>
        </a:defRPr>
      </a:lvl9pPr>
    </p:titleStyle>
    <p:bodyStyle>
      <a:lvl1pPr marL="342900" indent="-342900" algn="l" defTabSz="448945" rtl="0" eaLnBrk="0" fontAlgn="base" hangingPunct="0">
        <a:spcBef>
          <a:spcPts val="650"/>
        </a:spcBef>
        <a:spcAft>
          <a:spcPct val="0"/>
        </a:spcAft>
        <a:buClr>
          <a:srgbClr val="000000"/>
        </a:buClr>
        <a:buSzPct val="100000"/>
        <a:buFont typeface="Times New Roman" panose="02020603050405020304" pitchFamily="16" charset="0"/>
        <a:buChar char="•"/>
        <a:defRPr sz="2600">
          <a:solidFill>
            <a:srgbClr val="FFFFFF"/>
          </a:solidFill>
          <a:latin typeface="+mn-lt"/>
          <a:ea typeface="+mn-ea"/>
          <a:cs typeface="+mn-cs"/>
        </a:defRPr>
      </a:lvl1pPr>
      <a:lvl2pPr marL="742950" indent="-285750" algn="l" defTabSz="448945" rtl="0" eaLnBrk="0" fontAlgn="base" hangingPunct="0">
        <a:spcBef>
          <a:spcPts val="600"/>
        </a:spcBef>
        <a:spcAft>
          <a:spcPct val="0"/>
        </a:spcAft>
        <a:buClr>
          <a:srgbClr val="000000"/>
        </a:buClr>
        <a:buSzPct val="100000"/>
        <a:buFont typeface="Times New Roman" panose="02020603050405020304" pitchFamily="16" charset="0"/>
        <a:buChar char="–"/>
        <a:defRPr sz="2400">
          <a:solidFill>
            <a:srgbClr val="FFFFFF"/>
          </a:solidFill>
          <a:latin typeface="+mn-lt"/>
          <a:ea typeface="+mn-ea"/>
          <a:cs typeface="+mn-cs"/>
        </a:defRPr>
      </a:lvl2pPr>
      <a:lvl3pPr marL="1143000" indent="-228600" algn="l" defTabSz="448945" rtl="0" eaLnBrk="0" fontAlgn="base" hangingPunct="0">
        <a:spcBef>
          <a:spcPts val="525"/>
        </a:spcBef>
        <a:spcAft>
          <a:spcPct val="0"/>
        </a:spcAft>
        <a:buClr>
          <a:srgbClr val="000000"/>
        </a:buClr>
        <a:buSzPct val="100000"/>
        <a:buFont typeface="Times New Roman" panose="02020603050405020304" pitchFamily="16" charset="0"/>
        <a:buChar char="•"/>
        <a:defRPr sz="2100">
          <a:solidFill>
            <a:srgbClr val="FFFFFF"/>
          </a:solidFill>
          <a:latin typeface="+mn-lt"/>
          <a:ea typeface="+mn-ea"/>
          <a:cs typeface="+mn-cs"/>
        </a:defRPr>
      </a:lvl3pPr>
      <a:lvl4pPr marL="1600200" indent="-228600" algn="l" defTabSz="448945" rtl="0" eaLnBrk="0" fontAlgn="base" hangingPunct="0">
        <a:spcBef>
          <a:spcPts val="500"/>
        </a:spcBef>
        <a:spcAft>
          <a:spcPct val="0"/>
        </a:spcAft>
        <a:buClr>
          <a:srgbClr val="000000"/>
        </a:buClr>
        <a:buSzPct val="100000"/>
        <a:buFont typeface="Times New Roman" panose="02020603050405020304" pitchFamily="16" charset="0"/>
        <a:buChar char="–"/>
        <a:defRPr sz="2000">
          <a:solidFill>
            <a:srgbClr val="FFFFFF"/>
          </a:solidFill>
          <a:latin typeface="+mn-lt"/>
          <a:ea typeface="+mn-ea"/>
          <a:cs typeface="+mn-cs"/>
        </a:defRPr>
      </a:lvl4pPr>
      <a:lvl5pPr marL="2057400" indent="-228600" algn="l" defTabSz="448945" rtl="0" eaLnBrk="0" fontAlgn="base" hangingPunct="0">
        <a:spcBef>
          <a:spcPts val="500"/>
        </a:spcBef>
        <a:spcAft>
          <a:spcPct val="0"/>
        </a:spcAft>
        <a:buClr>
          <a:srgbClr val="000000"/>
        </a:buClr>
        <a:buSzPct val="100000"/>
        <a:buFont typeface="Times New Roman" panose="02020603050405020304" pitchFamily="16" charset="0"/>
        <a:buChar char="»"/>
        <a:defRPr sz="2000">
          <a:solidFill>
            <a:srgbClr val="FFFFFF"/>
          </a:solidFill>
          <a:latin typeface="+mn-lt"/>
          <a:ea typeface="+mn-ea"/>
          <a:cs typeface="+mn-cs"/>
        </a:defRPr>
      </a:lvl5pPr>
      <a:lvl6pPr marL="25146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6pPr>
      <a:lvl7pPr marL="29718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7pPr>
      <a:lvl8pPr marL="34290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8pPr>
      <a:lvl9pPr marL="3886200" indent="-228600" algn="l" defTabSz="448945" rtl="0" eaLnBrk="0" fontAlgn="base" hangingPunct="0">
        <a:spcBef>
          <a:spcPts val="500"/>
        </a:spcBef>
        <a:spcAft>
          <a:spcPct val="0"/>
        </a:spcAft>
        <a:buClr>
          <a:srgbClr val="000000"/>
        </a:buClr>
        <a:buSzPct val="100000"/>
        <a:buFont typeface="Times New Roman" panose="02020603050405020304" pitchFamily="16" charset="0"/>
        <a:defRPr sz="2000">
          <a:solidFill>
            <a:srgbClr val="FFFFFF"/>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r>
              <a:rPr lang="en-US" smtClean="0"/>
              <a:t>12/15/2018</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D830EE67-CE8C-45D5-9397-4278F59CBAE4}"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5.png"/><Relationship Id="rId1"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7.png"/><Relationship Id="rId1"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9.xml"/><Relationship Id="rId2" Type="http://schemas.openxmlformats.org/officeDocument/2006/relationships/image" Target="../media/image8.GIF"/><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9.jpe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0.png"/><Relationship Id="rId1"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1.GIF"/><Relationship Id="rId1"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png"/><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3.png"/><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2.png"/><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4.GIF"/><Relationship Id="rId1" Type="http://schemas.openxmlformats.org/officeDocument/2006/relationships/image" Target="../media/image5.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5.GIF"/><Relationship Id="rId1"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6.GIF"/><Relationship Id="rId1" Type="http://schemas.openxmlformats.org/officeDocument/2006/relationships/image" Target="../media/image5.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7.png"/><Relationship Id="rId1"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8.png"/><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19.jpeg"/><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20.jpeg"/><Relationship Id="rId1" Type="http://schemas.openxmlformats.org/officeDocument/2006/relationships/image" Target="../media/image5.png"/></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23.png"/><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24.png"/><Relationship Id="rId1" Type="http://schemas.openxmlformats.org/officeDocument/2006/relationships/image" Target="../media/image5.png"/></Relationships>
</file>

<file path=ppt/slides/_rels/slide30.xml.rels><?xml version="1.0" encoding="UTF-8" standalone="yes"?>
<Relationships xmlns="http://schemas.openxmlformats.org/package/2006/relationships"><Relationship Id="rId5" Type="http://schemas.openxmlformats.org/officeDocument/2006/relationships/slideLayout" Target="../slideLayouts/slideLayout29.xml"/><Relationship Id="rId4" Type="http://schemas.openxmlformats.org/officeDocument/2006/relationships/image" Target="../media/image27.png"/><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image" Target="../media/image5.png"/></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9.xml"/><Relationship Id="rId1" Type="http://schemas.openxmlformats.org/officeDocument/2006/relationships/image" Target="../media/image5.png"/></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30.png"/><Relationship Id="rId1" Type="http://schemas.openxmlformats.org/officeDocument/2006/relationships/image" Target="../media/image5.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36.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33.png"/><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image" Target="../media/image5.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4.xml"/><Relationship Id="rId1"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38.jpeg"/><Relationship Id="rId1" Type="http://schemas.openxmlformats.org/officeDocument/2006/relationships/image" Target="../media/image5.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39.jpeg"/><Relationship Id="rId2" Type="http://schemas.openxmlformats.org/officeDocument/2006/relationships/hyperlink" Target="https://electrosome.com/wp-content/uploads/2016/12/Equivalent-Circuit-Inverting-Amplifier-Virtual-Ground-Opamp.jpg" TargetMode="External"/><Relationship Id="rId1"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0.png"/><Relationship Id="rId1"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1.png"/><Relationship Id="rId1"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2.png"/><Relationship Id="rId1" Type="http://schemas.openxmlformats.org/officeDocument/2006/relationships/image" Target="../media/image5.png"/></Relationships>
</file>

<file path=ppt/slides/_rels/slide46.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5.png"/><Relationship Id="rId1" Type="http://schemas.openxmlformats.org/officeDocument/2006/relationships/image" Target="../media/image5.png"/></Relationships>
</file>

<file path=ppt/slides/_rels/slide48.xml.rels><?xml version="1.0" encoding="UTF-8" standalone="yes"?>
<Relationships xmlns="http://schemas.openxmlformats.org/package/2006/relationships"><Relationship Id="rId4" Type="http://schemas.openxmlformats.org/officeDocument/2006/relationships/slideLayout" Target="../slideLayouts/slideLayout24.xml"/><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47.png"/><Relationship Id="rId1" Type="http://schemas.openxmlformats.org/officeDocument/2006/relationships/image" Target="../media/image5.png"/></Relationships>
</file>

<file path=ppt/slides/_rels/slide50.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50.png"/><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image" Target="../media/image5.png"/></Relationships>
</file>

<file path=ppt/slides/_rels/slide51.xml.rels><?xml version="1.0" encoding="UTF-8" standalone="yes"?>
<Relationships xmlns="http://schemas.openxmlformats.org/package/2006/relationships"><Relationship Id="rId5" Type="http://schemas.openxmlformats.org/officeDocument/2006/relationships/slideLayout" Target="../slideLayouts/slideLayout24.xml"/><Relationship Id="rId4" Type="http://schemas.openxmlformats.org/officeDocument/2006/relationships/image" Target="../media/image53.png"/><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image" Target="../media/image5.png"/></Relationships>
</file>

<file path=ppt/slides/_rels/slide52.xml.rels><?xml version="1.0" encoding="UTF-8" standalone="yes"?>
<Relationships xmlns="http://schemas.openxmlformats.org/package/2006/relationships"><Relationship Id="rId6" Type="http://schemas.openxmlformats.org/officeDocument/2006/relationships/slideLayout" Target="../slideLayouts/slideLayout24.xml"/><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image" Target="../media/image59.png"/><Relationship Id="rId1" Type="http://schemas.openxmlformats.org/officeDocument/2006/relationships/image" Target="../media/image5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83357" y="257175"/>
            <a:ext cx="8847535" cy="6465888"/>
          </a:xfrm>
          <a:prstGeom prst="rect">
            <a:avLst/>
          </a:prstGeom>
          <a:noFill/>
          <a:ln w="412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dirty="0"/>
          </a:p>
        </p:txBody>
      </p:sp>
      <p:sp>
        <p:nvSpPr>
          <p:cNvPr id="3" name="Title 1"/>
          <p:cNvSpPr txBox="1"/>
          <p:nvPr/>
        </p:nvSpPr>
        <p:spPr>
          <a:xfrm>
            <a:off x="284560" y="608014"/>
            <a:ext cx="7886700" cy="2714625"/>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br>
              <a:rPr lang="en-IN" sz="1800" b="1" smtClean="0">
                <a:solidFill>
                  <a:srgbClr val="C00000"/>
                </a:solidFill>
                <a:latin typeface="Times New Roman" panose="02020603050405020304" pitchFamily="16" charset="0"/>
                <a:cs typeface="Times New Roman" panose="02020603050405020304" pitchFamily="16" charset="0"/>
              </a:rPr>
            </a:br>
            <a:endParaRPr lang="en-IN" sz="1600" b="1" smtClean="0">
              <a:solidFill>
                <a:srgbClr val="002060"/>
              </a:solidFill>
              <a:latin typeface="Times New Roman" panose="02020603050405020304" pitchFamily="16" charset="0"/>
              <a:cs typeface="Times New Roman" panose="02020603050405020304" pitchFamily="16" charset="0"/>
            </a:endParaRPr>
          </a:p>
        </p:txBody>
      </p:sp>
      <p:sp>
        <p:nvSpPr>
          <p:cNvPr id="4" name="TextBox 7"/>
          <p:cNvSpPr txBox="1">
            <a:spLocks noChangeArrowheads="1"/>
          </p:cNvSpPr>
          <p:nvPr/>
        </p:nvSpPr>
        <p:spPr bwMode="auto">
          <a:xfrm flipH="1">
            <a:off x="0" y="420688"/>
            <a:ext cx="8818960" cy="5539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2000" b="1" dirty="0" err="1">
                <a:solidFill>
                  <a:srgbClr val="002060"/>
                </a:solidFill>
              </a:rPr>
              <a:t>Sanjivani</a:t>
            </a:r>
            <a:r>
              <a:rPr lang="en-US" sz="2000" b="1" dirty="0">
                <a:solidFill>
                  <a:srgbClr val="002060"/>
                </a:solidFill>
              </a:rPr>
              <a:t> College of Engineering, </a:t>
            </a:r>
            <a:r>
              <a:rPr lang="en-US" sz="2000" b="1" dirty="0" err="1">
                <a:solidFill>
                  <a:srgbClr val="002060"/>
                </a:solidFill>
              </a:rPr>
              <a:t>Kopargaon</a:t>
            </a:r>
            <a:endParaRPr lang="en-IN" sz="2000" b="1" dirty="0">
              <a:solidFill>
                <a:srgbClr val="002060"/>
              </a:solidFill>
            </a:endParaRPr>
          </a:p>
          <a:p>
            <a:pPr algn="ctr" eaLnBrk="1" hangingPunct="1"/>
            <a:r>
              <a:rPr lang="en-US" b="1" dirty="0">
                <a:solidFill>
                  <a:srgbClr val="00B0F0"/>
                </a:solidFill>
              </a:rPr>
              <a:t>Department of Electronics &amp; </a:t>
            </a:r>
            <a:r>
              <a:rPr lang="en-US" b="1" dirty="0" smtClean="0">
                <a:solidFill>
                  <a:srgbClr val="00B0F0"/>
                </a:solidFill>
              </a:rPr>
              <a:t>Computer Engineering</a:t>
            </a:r>
            <a:endParaRPr lang="en-US" b="1" dirty="0">
              <a:solidFill>
                <a:srgbClr val="00B0F0"/>
              </a:solidFill>
            </a:endParaRPr>
          </a:p>
          <a:p>
            <a:pPr algn="ctr" eaLnBrk="1" hangingPunct="1"/>
            <a:r>
              <a:rPr lang="en-IN" sz="2000" b="1" dirty="0">
                <a:solidFill>
                  <a:srgbClr val="00B050"/>
                </a:solidFill>
                <a:latin typeface="Times New Roman" panose="02020603050405020304" pitchFamily="16" charset="0"/>
                <a:cs typeface="Times New Roman" panose="02020603050405020304" pitchFamily="16" charset="0"/>
              </a:rPr>
              <a:t>(An Autonomous Institute) </a:t>
            </a:r>
            <a:endParaRPr lang="en-IN" sz="2000" b="1" dirty="0">
              <a:solidFill>
                <a:srgbClr val="00B050"/>
              </a:solidFill>
              <a:latin typeface="Times New Roman" panose="02020603050405020304" pitchFamily="16" charset="0"/>
              <a:cs typeface="Times New Roman" panose="02020603050405020304" pitchFamily="16" charset="0"/>
            </a:endParaRPr>
          </a:p>
          <a:p>
            <a:pPr algn="ctr" eaLnBrk="1" hangingPunct="1"/>
            <a:r>
              <a:rPr lang="en-IN" sz="2000" b="1" dirty="0">
                <a:solidFill>
                  <a:srgbClr val="002060"/>
                </a:solidFill>
                <a:latin typeface="Times New Roman" panose="02020603050405020304" pitchFamily="16" charset="0"/>
                <a:cs typeface="Times New Roman" panose="02020603050405020304" pitchFamily="16" charset="0"/>
              </a:rPr>
              <a:t>Affiliated to </a:t>
            </a:r>
            <a:r>
              <a:rPr lang="en-IN" sz="2000" b="1" dirty="0" err="1">
                <a:solidFill>
                  <a:srgbClr val="002060"/>
                </a:solidFill>
                <a:latin typeface="Times New Roman" panose="02020603050405020304" pitchFamily="16" charset="0"/>
                <a:cs typeface="Times New Roman" panose="02020603050405020304" pitchFamily="16" charset="0"/>
              </a:rPr>
              <a:t>Savitribai</a:t>
            </a:r>
            <a:r>
              <a:rPr lang="en-IN" sz="2000" b="1" dirty="0">
                <a:solidFill>
                  <a:srgbClr val="002060"/>
                </a:solidFill>
                <a:latin typeface="Times New Roman" panose="02020603050405020304" pitchFamily="16" charset="0"/>
                <a:cs typeface="Times New Roman" panose="02020603050405020304" pitchFamily="16" charset="0"/>
              </a:rPr>
              <a:t> </a:t>
            </a:r>
            <a:r>
              <a:rPr lang="en-IN" sz="2000" b="1" dirty="0" err="1">
                <a:solidFill>
                  <a:srgbClr val="002060"/>
                </a:solidFill>
                <a:latin typeface="Times New Roman" panose="02020603050405020304" pitchFamily="16" charset="0"/>
                <a:cs typeface="Times New Roman" panose="02020603050405020304" pitchFamily="16" charset="0"/>
              </a:rPr>
              <a:t>Phule</a:t>
            </a:r>
            <a:r>
              <a:rPr lang="en-IN" sz="2000" b="1" dirty="0">
                <a:solidFill>
                  <a:srgbClr val="002060"/>
                </a:solidFill>
                <a:latin typeface="Times New Roman" panose="02020603050405020304" pitchFamily="16" charset="0"/>
                <a:cs typeface="Times New Roman" panose="02020603050405020304" pitchFamily="16" charset="0"/>
              </a:rPr>
              <a:t> Pune University</a:t>
            </a:r>
            <a:br>
              <a:rPr lang="en-IN" sz="2000" b="1" dirty="0">
                <a:solidFill>
                  <a:srgbClr val="002060"/>
                </a:solidFill>
                <a:latin typeface="Times New Roman" panose="02020603050405020304" pitchFamily="16" charset="0"/>
                <a:cs typeface="Times New Roman" panose="02020603050405020304" pitchFamily="16" charset="0"/>
              </a:rPr>
            </a:br>
            <a:r>
              <a:rPr lang="en-IN" sz="2000" b="1" dirty="0">
                <a:solidFill>
                  <a:srgbClr val="002060"/>
                </a:solidFill>
                <a:latin typeface="Times New Roman" panose="02020603050405020304" pitchFamily="16" charset="0"/>
                <a:cs typeface="Times New Roman" panose="02020603050405020304" pitchFamily="16" charset="0"/>
              </a:rPr>
              <a:t>Accredited ‘A’ Grade by </a:t>
            </a:r>
            <a:r>
              <a:rPr lang="en-IN" sz="2000" b="1" dirty="0" smtClean="0">
                <a:solidFill>
                  <a:srgbClr val="002060"/>
                </a:solidFill>
                <a:latin typeface="Times New Roman" panose="02020603050405020304" pitchFamily="16" charset="0"/>
                <a:cs typeface="Times New Roman" panose="02020603050405020304" pitchFamily="16" charset="0"/>
              </a:rPr>
              <a:t>NAAC ____________________________________________________________________</a:t>
            </a:r>
            <a:br>
              <a:rPr lang="en-IN" sz="2000" b="1" dirty="0" smtClean="0">
                <a:solidFill>
                  <a:srgbClr val="002060"/>
                </a:solidFill>
                <a:latin typeface="Times New Roman" panose="02020603050405020304" pitchFamily="16" charset="0"/>
                <a:cs typeface="Times New Roman" panose="02020603050405020304" pitchFamily="16" charset="0"/>
              </a:rPr>
            </a:br>
            <a:r>
              <a:rPr lang="en-IN" sz="2000" b="1" dirty="0" smtClean="0">
                <a:solidFill>
                  <a:srgbClr val="C00000"/>
                </a:solidFill>
                <a:latin typeface="Times New Roman" panose="02020603050405020304" pitchFamily="16" charset="0"/>
                <a:cs typeface="Times New Roman" panose="02020603050405020304" pitchFamily="16" charset="0"/>
              </a:rPr>
              <a:t>     </a:t>
            </a:r>
            <a:br>
              <a:rPr lang="en-IN" sz="3200" b="1" dirty="0" smtClean="0">
                <a:solidFill>
                  <a:srgbClr val="C00000"/>
                </a:solidFill>
                <a:latin typeface="Times New Roman" panose="02020603050405020304" pitchFamily="16" charset="0"/>
                <a:cs typeface="Times New Roman" panose="02020603050405020304" pitchFamily="16" charset="0"/>
              </a:rPr>
            </a:br>
            <a:r>
              <a:rPr lang="en-IN" sz="3200" b="1" dirty="0" smtClean="0">
                <a:solidFill>
                  <a:srgbClr val="C00000"/>
                </a:solidFill>
                <a:latin typeface="Times New Roman" panose="02020603050405020304" pitchFamily="16" charset="0"/>
                <a:cs typeface="Times New Roman" panose="02020603050405020304" pitchFamily="16" charset="0"/>
              </a:rPr>
              <a:t>Unit 1</a:t>
            </a:r>
            <a:endParaRPr lang="en-IN" sz="3200" b="1" dirty="0" smtClean="0">
              <a:solidFill>
                <a:srgbClr val="C00000"/>
              </a:solidFill>
              <a:latin typeface="Times New Roman" panose="02020603050405020304" pitchFamily="16" charset="0"/>
              <a:cs typeface="Times New Roman" panose="02020603050405020304" pitchFamily="16" charset="0"/>
            </a:endParaRPr>
          </a:p>
          <a:p>
            <a:pPr algn="ctr" eaLnBrk="1" hangingPunct="1"/>
            <a:r>
              <a:rPr lang="en-IN" sz="3200" b="1" dirty="0" err="1" smtClean="0">
                <a:solidFill>
                  <a:srgbClr val="C00000"/>
                </a:solidFill>
                <a:latin typeface="Times New Roman" panose="02020603050405020304" pitchFamily="16" charset="0"/>
                <a:cs typeface="Times New Roman" panose="02020603050405020304" pitchFamily="16" charset="0"/>
              </a:rPr>
              <a:t>Analog</a:t>
            </a:r>
            <a:r>
              <a:rPr lang="en-IN" sz="3200" b="1" dirty="0" smtClean="0">
                <a:solidFill>
                  <a:srgbClr val="C00000"/>
                </a:solidFill>
                <a:latin typeface="Times New Roman" panose="02020603050405020304" pitchFamily="16" charset="0"/>
                <a:cs typeface="Times New Roman" panose="02020603050405020304" pitchFamily="16" charset="0"/>
              </a:rPr>
              <a:t> Circuits</a:t>
            </a:r>
            <a:endParaRPr lang="en-US" sz="3200" b="1" dirty="0" smtClean="0">
              <a:solidFill>
                <a:srgbClr val="C00000"/>
              </a:solidFill>
              <a:latin typeface="Times New Roman" panose="02020603050405020304" pitchFamily="16" charset="0"/>
              <a:cs typeface="Times New Roman" panose="02020603050405020304" pitchFamily="16" charset="0"/>
            </a:endParaRPr>
          </a:p>
          <a:p>
            <a:pPr algn="ctr" eaLnBrk="1" hangingPunct="1"/>
            <a:r>
              <a:rPr lang="en-US" sz="3200" b="1" dirty="0" smtClean="0">
                <a:solidFill>
                  <a:srgbClr val="C00000"/>
                </a:solidFill>
                <a:latin typeface="Times New Roman" panose="02020603050405020304" pitchFamily="16" charset="0"/>
                <a:cs typeface="Times New Roman" panose="02020603050405020304" pitchFamily="16" charset="0"/>
              </a:rPr>
              <a:t>Introduction to Analog circuits</a:t>
            </a:r>
            <a:endParaRPr lang="en-US" sz="3200" b="1" dirty="0" smtClean="0">
              <a:solidFill>
                <a:srgbClr val="C00000"/>
              </a:solidFill>
              <a:latin typeface="Times New Roman" panose="02020603050405020304" pitchFamily="16" charset="0"/>
              <a:cs typeface="Times New Roman" panose="02020603050405020304" pitchFamily="16" charset="0"/>
            </a:endParaRPr>
          </a:p>
          <a:p>
            <a:pPr algn="ctr" eaLnBrk="1" hangingPunct="1"/>
            <a:endParaRPr lang="en-US" sz="2400" b="1" dirty="0" smtClean="0">
              <a:solidFill>
                <a:srgbClr val="002060"/>
              </a:solidFill>
              <a:latin typeface="Times New Roman" panose="02020603050405020304" pitchFamily="16" charset="0"/>
              <a:cs typeface="Times New Roman" panose="02020603050405020304" pitchFamily="16" charset="0"/>
            </a:endParaRPr>
          </a:p>
          <a:p>
            <a:pPr algn="ctr" eaLnBrk="1" hangingPunct="1"/>
            <a:r>
              <a:rPr lang="en-US" sz="2400" b="1" dirty="0" smtClean="0">
                <a:solidFill>
                  <a:srgbClr val="002060"/>
                </a:solidFill>
                <a:latin typeface="Times New Roman" panose="02020603050405020304" pitchFamily="16" charset="0"/>
                <a:cs typeface="Times New Roman" panose="02020603050405020304" pitchFamily="16" charset="0"/>
              </a:rPr>
              <a:t>By</a:t>
            </a:r>
            <a:endParaRPr lang="en-US" sz="2400" b="1" dirty="0" smtClean="0">
              <a:solidFill>
                <a:srgbClr val="002060"/>
              </a:solidFill>
              <a:latin typeface="Times New Roman" panose="02020603050405020304" pitchFamily="16" charset="0"/>
              <a:cs typeface="Times New Roman" panose="02020603050405020304" pitchFamily="16" charset="0"/>
            </a:endParaRPr>
          </a:p>
          <a:p>
            <a:pPr algn="ctr" eaLnBrk="1" hangingPunct="1"/>
            <a:r>
              <a:rPr lang="en-IN" altLang="en-US" sz="2400" b="1" dirty="0" smtClean="0">
                <a:solidFill>
                  <a:srgbClr val="002060"/>
                </a:solidFill>
                <a:latin typeface="Times New Roman" panose="02020603050405020304" pitchFamily="16" charset="0"/>
                <a:cs typeface="Times New Roman" panose="02020603050405020304" pitchFamily="16" charset="0"/>
              </a:rPr>
              <a:t>D</a:t>
            </a:r>
            <a:r>
              <a:rPr lang="en-US" sz="2400" b="1" dirty="0" smtClean="0">
                <a:solidFill>
                  <a:srgbClr val="002060"/>
                </a:solidFill>
                <a:latin typeface="Times New Roman" panose="02020603050405020304" pitchFamily="16" charset="0"/>
                <a:cs typeface="Times New Roman" panose="02020603050405020304" pitchFamily="16" charset="0"/>
              </a:rPr>
              <a:t>r. D. G. Lokhande</a:t>
            </a:r>
            <a:endParaRPr lang="en-US" sz="2400" b="1" dirty="0" smtClean="0">
              <a:solidFill>
                <a:srgbClr val="002060"/>
              </a:solidFill>
              <a:latin typeface="Times New Roman" panose="02020603050405020304" pitchFamily="16" charset="0"/>
              <a:cs typeface="Times New Roman" panose="02020603050405020304" pitchFamily="16" charset="0"/>
            </a:endParaRPr>
          </a:p>
          <a:p>
            <a:pPr algn="ctr" eaLnBrk="1" hangingPunct="1"/>
            <a:r>
              <a:rPr lang="en-US" sz="2400" b="1" dirty="0" smtClean="0">
                <a:solidFill>
                  <a:srgbClr val="002060"/>
                </a:solidFill>
                <a:latin typeface="Times New Roman" panose="02020603050405020304" pitchFamily="16" charset="0"/>
                <a:cs typeface="Times New Roman" panose="02020603050405020304" pitchFamily="16" charset="0"/>
              </a:rPr>
              <a:t>Assistant Professor</a:t>
            </a:r>
            <a:endParaRPr lang="en-US" sz="2400" b="1" dirty="0" smtClean="0">
              <a:solidFill>
                <a:srgbClr val="002060"/>
              </a:solidFill>
              <a:latin typeface="Times New Roman" panose="02020603050405020304" pitchFamily="16" charset="0"/>
              <a:cs typeface="Times New Roman" panose="02020603050405020304" pitchFamily="16" charset="0"/>
            </a:endParaRPr>
          </a:p>
          <a:p>
            <a:pPr algn="ctr" eaLnBrk="1" hangingPunct="1"/>
            <a:r>
              <a:rPr lang="en-US" sz="2400" b="1" dirty="0" smtClean="0">
                <a:solidFill>
                  <a:srgbClr val="002060"/>
                </a:solidFill>
                <a:latin typeface="Times New Roman" panose="02020603050405020304" pitchFamily="16" charset="0"/>
                <a:cs typeface="Times New Roman" panose="02020603050405020304" pitchFamily="16" charset="0"/>
              </a:rPr>
              <a:t>Faculty, Department of ECE Engg.</a:t>
            </a:r>
            <a:endParaRPr lang="en-IN" sz="3200" b="1" dirty="0">
              <a:solidFill>
                <a:srgbClr val="002060"/>
              </a:solidFill>
            </a:endParaRPr>
          </a:p>
        </p:txBody>
      </p:sp>
      <p:pic>
        <p:nvPicPr>
          <p:cNvPr id="5" name="Picture 2" descr="About Sanjivani - Sanjivani Group of Institutes, Koparga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419043" y="435391"/>
            <a:ext cx="1396604"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D:\D\ADMIN\OFFICELETTER\SCOE Logo.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350" y="519114"/>
            <a:ext cx="1028700" cy="1379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2133600" y="103189"/>
            <a:ext cx="3743332" cy="707886"/>
          </a:xfrm>
          <a:prstGeom prst="rect">
            <a:avLst/>
          </a:prstGeom>
        </p:spPr>
        <p:txBody>
          <a:bodyPr wrap="none">
            <a:spAutoFit/>
          </a:bodyPr>
          <a:lstStyle/>
          <a:p>
            <a:r>
              <a:rPr lang="en-US" sz="4000" b="1" dirty="0" smtClean="0">
                <a:solidFill>
                  <a:srgbClr val="C00000"/>
                </a:solidFill>
              </a:rPr>
              <a:t>Analog Signal</a:t>
            </a:r>
            <a:endParaRPr lang="en-US" sz="4000" dirty="0">
              <a:solidFill>
                <a:srgbClr val="C00000"/>
              </a:solidFill>
            </a:endParaRPr>
          </a:p>
        </p:txBody>
      </p:sp>
      <p:sp>
        <p:nvSpPr>
          <p:cNvPr id="4" name="Rectangle 1"/>
          <p:cNvSpPr>
            <a:spLocks noChangeArrowheads="1"/>
          </p:cNvSpPr>
          <p:nvPr/>
        </p:nvSpPr>
        <p:spPr bwMode="auto">
          <a:xfrm>
            <a:off x="1083365" y="838200"/>
            <a:ext cx="7871791"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lvl="0" indent="-285750" algn="just" defTabSz="914400">
              <a:buClrTx/>
              <a:buSzTx/>
              <a:buFont typeface="Arial" panose="020B0604020202020204" pitchFamily="34" charset="0"/>
              <a:buChar char="•"/>
            </a:pPr>
            <a:r>
              <a:rPr lang="en-US" sz="2800" dirty="0">
                <a:solidFill>
                  <a:schemeClr val="tx1"/>
                </a:solidFill>
              </a:rPr>
              <a:t>An analog signal is a voltage, current, or physical quantity that continuously and infinitely varies in accordance with some time-varying parameter</a:t>
            </a:r>
            <a:r>
              <a:rPr lang="en-US" sz="2800" dirty="0" smtClean="0">
                <a:solidFill>
                  <a:schemeClr val="tx1"/>
                </a:solidFill>
              </a:rPr>
              <a:t>.</a:t>
            </a:r>
            <a:endParaRPr lang="en-US" sz="2800" dirty="0" smtClean="0">
              <a:solidFill>
                <a:schemeClr val="tx1"/>
              </a:solidFill>
            </a:endParaRPr>
          </a:p>
          <a:p>
            <a:pPr marL="285750" lvl="0" indent="-285750" algn="just" defTabSz="914400">
              <a:buClrTx/>
              <a:buSzTx/>
              <a:buFont typeface="Arial" panose="020B0604020202020204" pitchFamily="34" charset="0"/>
              <a:buChar char="•"/>
            </a:pPr>
            <a:r>
              <a:rPr lang="en-US" sz="2800" dirty="0" smtClean="0">
                <a:solidFill>
                  <a:schemeClr val="tx1"/>
                </a:solidFill>
              </a:rPr>
              <a:t>An analog signals are varying from zero volts to any infinite amplitude with respective to time.</a:t>
            </a:r>
            <a:r>
              <a:rPr lang="en-US" sz="2800" dirty="0">
                <a:solidFill>
                  <a:schemeClr val="tx1"/>
                </a:solidFill>
              </a:rPr>
              <a:t> </a:t>
            </a:r>
            <a:endParaRPr kumimoji="0" lang="en-US" sz="2800" b="0" i="0" u="none" strike="noStrike" cap="none" normalizeH="0" baseline="0" dirty="0" smtClean="0">
              <a:ln>
                <a:noFill/>
              </a:ln>
              <a:solidFill>
                <a:schemeClr val="tx1"/>
              </a:solidFill>
              <a:effectLst/>
              <a:cs typeface="Arial" panose="020B0604020202020204" pitchFamily="34"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207" y="3886200"/>
            <a:ext cx="7534275" cy="2417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228327" y="327514"/>
            <a:ext cx="3974165" cy="707886"/>
          </a:xfrm>
          <a:prstGeom prst="rect">
            <a:avLst/>
          </a:prstGeom>
        </p:spPr>
        <p:txBody>
          <a:bodyPr wrap="none">
            <a:spAutoFit/>
          </a:bodyPr>
          <a:lstStyle/>
          <a:p>
            <a:r>
              <a:rPr lang="en-US" sz="4000" b="1" dirty="0">
                <a:solidFill>
                  <a:srgbClr val="C00000"/>
                </a:solidFill>
              </a:rPr>
              <a:t>Analog </a:t>
            </a:r>
            <a:r>
              <a:rPr lang="en-US" sz="4000" b="1" dirty="0" smtClean="0">
                <a:solidFill>
                  <a:srgbClr val="C00000"/>
                </a:solidFill>
              </a:rPr>
              <a:t>Circuits</a:t>
            </a:r>
            <a:endParaRPr lang="en-US" sz="4000" dirty="0">
              <a:solidFill>
                <a:srgbClr val="C00000"/>
              </a:solidFill>
            </a:endParaRPr>
          </a:p>
        </p:txBody>
      </p:sp>
      <p:sp>
        <p:nvSpPr>
          <p:cNvPr id="4" name="Rectangle 1"/>
          <p:cNvSpPr>
            <a:spLocks noChangeArrowheads="1"/>
          </p:cNvSpPr>
          <p:nvPr/>
        </p:nvSpPr>
        <p:spPr bwMode="auto">
          <a:xfrm>
            <a:off x="1066800" y="1447800"/>
            <a:ext cx="7077473" cy="38164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285750" lvl="0" indent="-285750" algn="just" defTabSz="914400">
              <a:buClrTx/>
              <a:buSzTx/>
              <a:buFont typeface="Arial" panose="020B0604020202020204" pitchFamily="34" charset="0"/>
              <a:buChar char="•"/>
            </a:pPr>
            <a:r>
              <a:rPr lang="en-US" sz="2800" dirty="0">
                <a:solidFill>
                  <a:schemeClr val="tx1"/>
                </a:solidFill>
              </a:rPr>
              <a:t>An analog circuit is a type electronic circuit that can process any analog signal or data and produce an output in analog form. Analog circuits are </a:t>
            </a:r>
            <a:r>
              <a:rPr lang="en-US" sz="2800" b="1" dirty="0">
                <a:solidFill>
                  <a:schemeClr val="tx1"/>
                </a:solidFill>
              </a:rPr>
              <a:t>composed of resistors, inductors and capacitors</a:t>
            </a:r>
            <a:r>
              <a:rPr lang="en-US" sz="2800" dirty="0">
                <a:solidFill>
                  <a:schemeClr val="tx1"/>
                </a:solidFill>
              </a:rPr>
              <a:t>, etc. The type of signal which is a continuous function of time is known as an analog signal.</a:t>
            </a:r>
            <a:endParaRPr lang="en-US" sz="2800" dirty="0" smtClean="0">
              <a:solidFill>
                <a:schemeClr val="tx1"/>
              </a:solidFill>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9" name="Title 1"/>
          <p:cNvSpPr>
            <a:spLocks noGrp="1"/>
          </p:cNvSpPr>
          <p:nvPr/>
        </p:nvSpPr>
        <p:spPr>
          <a:xfrm>
            <a:off x="1066800" y="181186"/>
            <a:ext cx="80010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solidFill>
                  <a:srgbClr val="C00000"/>
                </a:solidFill>
                <a:latin typeface="Arial" panose="020B0604020202020204" pitchFamily="34" charset="0"/>
                <a:cs typeface="Arial" panose="020B0604020202020204" pitchFamily="34" charset="0"/>
              </a:rPr>
              <a:t>Basic Block Diagram of Regulated power Supply</a:t>
            </a:r>
            <a:endParaRPr lang="en-US" sz="3200" b="1" dirty="0">
              <a:solidFill>
                <a:srgbClr val="C00000"/>
              </a:solidFill>
              <a:latin typeface="Arial" panose="020B0604020202020204" pitchFamily="34" charset="0"/>
              <a:cs typeface="Arial" panose="020B0604020202020204" pitchFamily="34" charset="0"/>
            </a:endParaRPr>
          </a:p>
        </p:txBody>
      </p:sp>
      <p:pic>
        <p:nvPicPr>
          <p:cNvPr id="10" name="Content Placeholder 9"/>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76200" y="1447800"/>
            <a:ext cx="8839200" cy="4811572"/>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5"/>
          <p:cNvSpPr txBox="1"/>
          <p:nvPr/>
        </p:nvSpPr>
        <p:spPr>
          <a:xfrm>
            <a:off x="6553200" y="6356350"/>
            <a:ext cx="2133600" cy="365125"/>
          </a:xfrm>
          <a:prstGeom prst="rect">
            <a:avLst/>
          </a:prstGeom>
        </p:spPr>
        <p:txBody>
          <a:bodyPr vert="horz" lIns="91440" tIns="45720" rIns="91440" bIns="45720" rtlCol="0" anchor="ctr"/>
          <a:lstStyle>
            <a:defPPr>
              <a:defRPr lang="en-GB"/>
            </a:defPPr>
            <a:lvl1pPr algn="r" defTabSz="448945" rtl="0" fontAlgn="base">
              <a:spcBef>
                <a:spcPct val="0"/>
              </a:spcBef>
              <a:spcAft>
                <a:spcPct val="0"/>
              </a:spcAft>
              <a:buClr>
                <a:srgbClr val="000000"/>
              </a:buClr>
              <a:buSzPct val="100000"/>
              <a:buFont typeface="Times New Roman" panose="02020603050405020304" pitchFamily="16" charset="0"/>
              <a:defRPr sz="1200" kern="1200">
                <a:solidFill>
                  <a:schemeClr val="tx1">
                    <a:tint val="75000"/>
                  </a:schemeClr>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fld id="{983C8387-AC7A-47D3-9D9E-41AA4712405B}" type="slidenum">
              <a:rPr lang="en-US" smtClean="0"/>
            </a:fld>
            <a:endParaRPr lang="en-US"/>
          </a:p>
        </p:txBody>
      </p:sp>
      <p:pic>
        <p:nvPicPr>
          <p:cNvPr id="4"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6"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7" name="Title 5"/>
          <p:cNvSpPr>
            <a:spLocks noGrp="1"/>
          </p:cNvSpPr>
          <p:nvPr/>
        </p:nvSpPr>
        <p:spPr>
          <a:xfrm>
            <a:off x="406112" y="289719"/>
            <a:ext cx="8229600" cy="1143000"/>
          </a:xfrm>
          <a:prstGeom prst="rect">
            <a:avLst/>
          </a:prstGeom>
        </p:spPr>
        <p:txBody>
          <a:bodyPr vert="horz" lIns="91440" tIns="45720" rIns="91440" bIns="45720" rtlCol="0" anchor="ctr">
            <a:normAutofit fontScale="97500"/>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200" b="1" dirty="0" smtClean="0">
                <a:solidFill>
                  <a:srgbClr val="C00000"/>
                </a:solidFill>
                <a:latin typeface="Arial" panose="020B0604020202020204" pitchFamily="34" charset="0"/>
                <a:cs typeface="Arial" panose="020B0604020202020204" pitchFamily="34" charset="0"/>
              </a:rPr>
              <a:t>Wave forms at various points in a Regulated power supply</a:t>
            </a:r>
            <a:endParaRPr lang="en-US" sz="3200" b="1" dirty="0">
              <a:solidFill>
                <a:srgbClr val="C00000"/>
              </a:solidFill>
              <a:latin typeface="Arial" panose="020B0604020202020204" pitchFamily="34" charset="0"/>
              <a:cs typeface="Arial" panose="020B0604020202020204" pitchFamily="34" charset="0"/>
            </a:endParaRPr>
          </a:p>
        </p:txBody>
      </p:sp>
      <p:pic>
        <p:nvPicPr>
          <p:cNvPr id="8" name="Content Placeholder 7"/>
          <p:cNvPicPr>
            <a:picLocks noGrp="1" noChangeAspect="1"/>
          </p:cNvPicPr>
          <p:nvPr/>
        </p:nvPicPr>
        <p:blipFill>
          <a:blip r:embed="rId2">
            <a:extLst>
              <a:ext uri="{28A0092B-C50C-407E-A947-70E740481C1C}">
                <a14:useLocalDpi xmlns:a14="http://schemas.microsoft.com/office/drawing/2010/main" val="0"/>
              </a:ext>
            </a:extLst>
          </a:blip>
          <a:stretch>
            <a:fillRect/>
          </a:stretch>
        </p:blipFill>
        <p:spPr>
          <a:xfrm>
            <a:off x="990600" y="1615281"/>
            <a:ext cx="7747289" cy="4953000"/>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7"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17" name="Rectangle 16"/>
          <p:cNvSpPr/>
          <p:nvPr/>
        </p:nvSpPr>
        <p:spPr>
          <a:xfrm>
            <a:off x="1053548" y="914400"/>
            <a:ext cx="7848600" cy="4832092"/>
          </a:xfrm>
          <a:prstGeom prst="rect">
            <a:avLst/>
          </a:prstGeom>
        </p:spPr>
        <p:txBody>
          <a:bodyPr wrap="square">
            <a:spAutoFit/>
          </a:bodyPr>
          <a:lstStyle/>
          <a:p>
            <a:r>
              <a:rPr lang="en-US" sz="2800" dirty="0">
                <a:solidFill>
                  <a:schemeClr val="tx1"/>
                </a:solidFill>
                <a:latin typeface="Times New Roman" panose="02020603050405020304" pitchFamily="16" charset="0"/>
                <a:cs typeface="Times New Roman" panose="02020603050405020304" pitchFamily="16" charset="0"/>
              </a:rPr>
              <a:t>• Transformer ;steps down high voltage AC mains to low voltage AC. </a:t>
            </a:r>
            <a:endParaRPr lang="en-US" sz="2800" dirty="0" smtClean="0">
              <a:solidFill>
                <a:schemeClr val="tx1"/>
              </a:solidFill>
              <a:latin typeface="Times New Roman" panose="02020603050405020304" pitchFamily="16" charset="0"/>
              <a:cs typeface="Times New Roman" panose="02020603050405020304" pitchFamily="16" charset="0"/>
            </a:endParaRPr>
          </a:p>
          <a:p>
            <a:endParaRPr lang="en-US" sz="2800" dirty="0" smtClean="0">
              <a:solidFill>
                <a:schemeClr val="tx1"/>
              </a:solidFill>
              <a:latin typeface="Times New Roman" panose="02020603050405020304" pitchFamily="16" charset="0"/>
              <a:cs typeface="Times New Roman" panose="02020603050405020304" pitchFamily="16" charset="0"/>
            </a:endParaRPr>
          </a:p>
          <a:p>
            <a:r>
              <a:rPr lang="en-US" sz="2800" dirty="0" smtClean="0">
                <a:solidFill>
                  <a:schemeClr val="tx1"/>
                </a:solidFill>
                <a:latin typeface="Times New Roman" panose="02020603050405020304" pitchFamily="16" charset="0"/>
                <a:cs typeface="Times New Roman" panose="02020603050405020304" pitchFamily="16" charset="0"/>
              </a:rPr>
              <a:t>• </a:t>
            </a:r>
            <a:r>
              <a:rPr lang="en-US" sz="2800" dirty="0">
                <a:solidFill>
                  <a:schemeClr val="tx1"/>
                </a:solidFill>
                <a:latin typeface="Times New Roman" panose="02020603050405020304" pitchFamily="16" charset="0"/>
                <a:cs typeface="Times New Roman" panose="02020603050405020304" pitchFamily="16" charset="0"/>
              </a:rPr>
              <a:t>Rectifier</a:t>
            </a:r>
            <a:r>
              <a:rPr lang="en-US" sz="2800" dirty="0" smtClean="0">
                <a:solidFill>
                  <a:schemeClr val="tx1"/>
                </a:solidFill>
                <a:latin typeface="Times New Roman" panose="02020603050405020304" pitchFamily="16" charset="0"/>
                <a:cs typeface="Times New Roman" panose="02020603050405020304" pitchFamily="16" charset="0"/>
              </a:rPr>
              <a:t>: converts </a:t>
            </a:r>
            <a:r>
              <a:rPr lang="en-US" sz="2800" dirty="0">
                <a:solidFill>
                  <a:schemeClr val="tx1"/>
                </a:solidFill>
                <a:latin typeface="Times New Roman" panose="02020603050405020304" pitchFamily="16" charset="0"/>
                <a:cs typeface="Times New Roman" panose="02020603050405020304" pitchFamily="16" charset="0"/>
              </a:rPr>
              <a:t>AC to DC, but the DC output is varying </a:t>
            </a:r>
            <a:endParaRPr lang="en-US" sz="2800" dirty="0" smtClean="0">
              <a:solidFill>
                <a:schemeClr val="tx1"/>
              </a:solidFill>
              <a:latin typeface="Times New Roman" panose="02020603050405020304" pitchFamily="16" charset="0"/>
              <a:cs typeface="Times New Roman" panose="02020603050405020304" pitchFamily="16" charset="0"/>
            </a:endParaRPr>
          </a:p>
          <a:p>
            <a:endParaRPr lang="en-US" sz="2800" dirty="0" smtClean="0">
              <a:solidFill>
                <a:schemeClr val="tx1"/>
              </a:solidFill>
              <a:latin typeface="Times New Roman" panose="02020603050405020304" pitchFamily="16" charset="0"/>
              <a:cs typeface="Times New Roman" panose="02020603050405020304" pitchFamily="16" charset="0"/>
            </a:endParaRPr>
          </a:p>
          <a:p>
            <a:r>
              <a:rPr lang="en-US" sz="2800" dirty="0" smtClean="0">
                <a:solidFill>
                  <a:schemeClr val="tx1"/>
                </a:solidFill>
                <a:latin typeface="Times New Roman" panose="02020603050405020304" pitchFamily="16" charset="0"/>
                <a:cs typeface="Times New Roman" panose="02020603050405020304" pitchFamily="16" charset="0"/>
              </a:rPr>
              <a:t>• </a:t>
            </a:r>
            <a:r>
              <a:rPr lang="en-US" sz="2800" dirty="0">
                <a:solidFill>
                  <a:schemeClr val="tx1"/>
                </a:solidFill>
                <a:latin typeface="Times New Roman" panose="02020603050405020304" pitchFamily="16" charset="0"/>
                <a:cs typeface="Times New Roman" panose="02020603050405020304" pitchFamily="16" charset="0"/>
              </a:rPr>
              <a:t>Filter: </a:t>
            </a:r>
            <a:r>
              <a:rPr lang="en-US" sz="2800" dirty="0" smtClean="0">
                <a:solidFill>
                  <a:schemeClr val="tx1"/>
                </a:solidFill>
                <a:latin typeface="Times New Roman" panose="02020603050405020304" pitchFamily="16" charset="0"/>
                <a:cs typeface="Times New Roman" panose="02020603050405020304" pitchFamily="16" charset="0"/>
              </a:rPr>
              <a:t>smooth </a:t>
            </a:r>
            <a:r>
              <a:rPr lang="en-US" sz="2800" dirty="0">
                <a:solidFill>
                  <a:schemeClr val="tx1"/>
                </a:solidFill>
                <a:latin typeface="Times New Roman" panose="02020603050405020304" pitchFamily="16" charset="0"/>
                <a:cs typeface="Times New Roman" panose="02020603050405020304" pitchFamily="16" charset="0"/>
              </a:rPr>
              <a:t>the DC from varying greatly to a small ripple. </a:t>
            </a:r>
            <a:endParaRPr lang="en-US" sz="2800" dirty="0" smtClean="0">
              <a:solidFill>
                <a:schemeClr val="tx1"/>
              </a:solidFill>
              <a:latin typeface="Times New Roman" panose="02020603050405020304" pitchFamily="16" charset="0"/>
              <a:cs typeface="Times New Roman" panose="02020603050405020304" pitchFamily="16" charset="0"/>
            </a:endParaRPr>
          </a:p>
          <a:p>
            <a:endParaRPr lang="en-US" sz="2800" dirty="0" smtClean="0">
              <a:solidFill>
                <a:schemeClr val="tx1"/>
              </a:solidFill>
              <a:latin typeface="Times New Roman" panose="02020603050405020304" pitchFamily="16" charset="0"/>
              <a:cs typeface="Times New Roman" panose="02020603050405020304" pitchFamily="16" charset="0"/>
            </a:endParaRPr>
          </a:p>
          <a:p>
            <a:r>
              <a:rPr lang="en-US" sz="2800" dirty="0" smtClean="0">
                <a:solidFill>
                  <a:schemeClr val="tx1"/>
                </a:solidFill>
                <a:latin typeface="Times New Roman" panose="02020603050405020304" pitchFamily="16" charset="0"/>
                <a:cs typeface="Times New Roman" panose="02020603050405020304" pitchFamily="16" charset="0"/>
              </a:rPr>
              <a:t>• </a:t>
            </a:r>
            <a:r>
              <a:rPr lang="en-US" sz="2800" dirty="0">
                <a:solidFill>
                  <a:schemeClr val="tx1"/>
                </a:solidFill>
                <a:latin typeface="Times New Roman" panose="02020603050405020304" pitchFamily="16" charset="0"/>
                <a:cs typeface="Times New Roman" panose="02020603050405020304" pitchFamily="16" charset="0"/>
              </a:rPr>
              <a:t>Regulator : eliminates ripple by setting DC output to a fixed voltage </a:t>
            </a:r>
            <a:endParaRPr lang="en-US" sz="2800" dirty="0">
              <a:solidFill>
                <a:schemeClr val="tx1"/>
              </a:solidFill>
              <a:latin typeface="Times New Roman" panose="02020603050405020304" pitchFamily="16" charset="0"/>
              <a:cs typeface="Times New Roman" panose="02020603050405020304" pitchFamily="16"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6"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7" name="Title 1"/>
          <p:cNvSpPr>
            <a:spLocks noGrp="1"/>
          </p:cNvSpPr>
          <p:nvPr/>
        </p:nvSpPr>
        <p:spPr>
          <a:xfrm>
            <a:off x="457200" y="503237"/>
            <a:ext cx="8229600" cy="11430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b="1" dirty="0" smtClean="0">
                <a:solidFill>
                  <a:srgbClr val="C00000"/>
                </a:solidFill>
              </a:rPr>
              <a:t>Rectification</a:t>
            </a:r>
            <a:endParaRPr lang="en-US" b="1" dirty="0">
              <a:solidFill>
                <a:srgbClr val="C00000"/>
              </a:solidFill>
            </a:endParaRPr>
          </a:p>
        </p:txBody>
      </p:sp>
      <p:sp>
        <p:nvSpPr>
          <p:cNvPr id="8" name="Content Placeholder 2"/>
          <p:cNvSpPr>
            <a:spLocks noGrp="1"/>
          </p:cNvSpPr>
          <p:nvPr/>
        </p:nvSpPr>
        <p:spPr>
          <a:xfrm>
            <a:off x="457200" y="1828799"/>
            <a:ext cx="8229600" cy="452596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lgn="just"/>
            <a:r>
              <a:rPr lang="en-US" dirty="0" smtClean="0"/>
              <a:t>Rectification is a process of converting the alternating quantity (voltage or current) into a corresponding direct quantity(voltage or current).</a:t>
            </a:r>
            <a:endParaRPr lang="en-US" dirty="0" smtClean="0"/>
          </a:p>
          <a:p>
            <a:pPr marL="0" indent="0" algn="just">
              <a:buNone/>
            </a:pPr>
            <a:endParaRPr lang="en-US" dirty="0" smtClean="0"/>
          </a:p>
          <a:p>
            <a:pPr algn="just"/>
            <a:r>
              <a:rPr lang="en-US" dirty="0" smtClean="0"/>
              <a:t>The </a:t>
            </a:r>
            <a:r>
              <a:rPr lang="en-US" b="1" dirty="0" smtClean="0">
                <a:solidFill>
                  <a:srgbClr val="FF0000"/>
                </a:solidFill>
              </a:rPr>
              <a:t>input to a rectifier is AC </a:t>
            </a:r>
            <a:r>
              <a:rPr lang="en-US" dirty="0" smtClean="0"/>
              <a:t>whereas its </a:t>
            </a:r>
            <a:r>
              <a:rPr lang="en-US" b="1" dirty="0" smtClean="0">
                <a:solidFill>
                  <a:srgbClr val="FF0000"/>
                </a:solidFill>
              </a:rPr>
              <a:t>output is unidirectional or DC.</a:t>
            </a:r>
            <a:endParaRPr lang="en-US" b="1" dirty="0" smtClean="0">
              <a:solidFill>
                <a:srgbClr val="FF0000"/>
              </a:solidFill>
            </a:endParaRPr>
          </a:p>
          <a:p>
            <a:pPr marL="0" indent="0" algn="just">
              <a:buNone/>
            </a:pPr>
            <a:endParaRPr lang="en-US" b="1" dirty="0">
              <a:solidFill>
                <a:srgbClr val="FF0000"/>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11" name="Title 1"/>
          <p:cNvSpPr>
            <a:spLocks noGrp="1"/>
          </p:cNvSpPr>
          <p:nvPr>
            <p:ph type="title"/>
          </p:nvPr>
        </p:nvSpPr>
        <p:spPr>
          <a:xfrm>
            <a:off x="457200" y="274638"/>
            <a:ext cx="8229600" cy="1143000"/>
          </a:xfrm>
        </p:spPr>
        <p:txBody>
          <a:bodyPr/>
          <a:lstStyle/>
          <a:p>
            <a:r>
              <a:rPr lang="en-US" b="1" dirty="0" smtClean="0">
                <a:solidFill>
                  <a:srgbClr val="C00000"/>
                </a:solidFill>
              </a:rPr>
              <a:t>Rectifiers</a:t>
            </a:r>
            <a:endParaRPr lang="en-US" b="1" dirty="0">
              <a:solidFill>
                <a:srgbClr val="C00000"/>
              </a:solidFill>
            </a:endParaRPr>
          </a:p>
        </p:txBody>
      </p:sp>
      <p:sp>
        <p:nvSpPr>
          <p:cNvPr id="12" name="Content Placeholder 2"/>
          <p:cNvSpPr>
            <a:spLocks noGrp="1"/>
          </p:cNvSpPr>
          <p:nvPr>
            <p:ph idx="1"/>
          </p:nvPr>
        </p:nvSpPr>
        <p:spPr>
          <a:xfrm>
            <a:off x="457200" y="1600200"/>
            <a:ext cx="8229600" cy="4525963"/>
          </a:xfrm>
        </p:spPr>
        <p:txBody>
          <a:bodyPr/>
          <a:lstStyle/>
          <a:p>
            <a:pPr algn="just"/>
            <a:r>
              <a:rPr lang="en-US" dirty="0" smtClean="0"/>
              <a:t>Rectifier is an electronic device which is used for converting an alternating quantity (Voltage or current) into unidirectional i.e. DC quantity (Voltage or current).</a:t>
            </a:r>
            <a:endParaRPr lang="en-US" dirty="0" smtClean="0"/>
          </a:p>
          <a:p>
            <a:pPr algn="just"/>
            <a:r>
              <a:rPr lang="en-US" b="1" dirty="0" smtClean="0"/>
              <a:t>Block diagram of Rectifier:</a:t>
            </a:r>
            <a:endParaRPr lang="en-US" b="1"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9" name="Title 1"/>
          <p:cNvSpPr>
            <a:spLocks noGrp="1"/>
          </p:cNvSpPr>
          <p:nvPr>
            <p:ph type="title"/>
          </p:nvPr>
        </p:nvSpPr>
        <p:spPr>
          <a:xfrm>
            <a:off x="457200" y="274638"/>
            <a:ext cx="8229600" cy="1143000"/>
          </a:xfrm>
        </p:spPr>
        <p:txBody>
          <a:bodyPr/>
          <a:lstStyle/>
          <a:p>
            <a:r>
              <a:rPr lang="en-US" b="1" dirty="0" smtClean="0">
                <a:solidFill>
                  <a:srgbClr val="C00000"/>
                </a:solidFill>
              </a:rPr>
              <a:t>Need of Rectification</a:t>
            </a:r>
            <a:endParaRPr lang="en-US" b="1" dirty="0">
              <a:solidFill>
                <a:srgbClr val="C00000"/>
              </a:solidFill>
            </a:endParaRPr>
          </a:p>
        </p:txBody>
      </p:sp>
      <p:sp>
        <p:nvSpPr>
          <p:cNvPr id="10" name="Content Placeholder 2"/>
          <p:cNvSpPr>
            <a:spLocks noGrp="1"/>
          </p:cNvSpPr>
          <p:nvPr>
            <p:ph idx="1"/>
          </p:nvPr>
        </p:nvSpPr>
        <p:spPr>
          <a:xfrm>
            <a:off x="457200" y="1600200"/>
            <a:ext cx="8229600" cy="4525963"/>
          </a:xfrm>
        </p:spPr>
        <p:txBody>
          <a:bodyPr/>
          <a:lstStyle/>
          <a:p>
            <a:r>
              <a:rPr lang="en-US" dirty="0" smtClean="0"/>
              <a:t>Every electronic circuit such as amplifiers, needs  a DC power source for its operation.</a:t>
            </a:r>
            <a:endParaRPr lang="en-US" dirty="0" smtClean="0"/>
          </a:p>
          <a:p>
            <a:r>
              <a:rPr lang="en-US" dirty="0" smtClean="0"/>
              <a:t>This DC voltage has to be obtained from AC supply.</a:t>
            </a:r>
            <a:endParaRPr lang="en-US" dirty="0" smtClean="0"/>
          </a:p>
          <a:p>
            <a:r>
              <a:rPr lang="en-US" dirty="0" smtClean="0"/>
              <a:t>For this the AC supply has to be reduced Stepped down first using a Step down transformer and then converted to dc by using rectifier.</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9" name="Title 1"/>
          <p:cNvSpPr>
            <a:spLocks noGrp="1"/>
          </p:cNvSpPr>
          <p:nvPr>
            <p:ph type="title"/>
          </p:nvPr>
        </p:nvSpPr>
        <p:spPr>
          <a:xfrm>
            <a:off x="457200" y="274638"/>
            <a:ext cx="8229600" cy="1143000"/>
          </a:xfrm>
        </p:spPr>
        <p:txBody>
          <a:bodyPr/>
          <a:lstStyle/>
          <a:p>
            <a:r>
              <a:rPr lang="en-US" b="1" dirty="0" smtClean="0"/>
              <a:t>Types of Rectifier</a:t>
            </a:r>
            <a:endParaRPr lang="en-US" b="1" dirty="0"/>
          </a:p>
        </p:txBody>
      </p:sp>
      <p:pic>
        <p:nvPicPr>
          <p:cNvPr id="10"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2000" y="1752600"/>
            <a:ext cx="7607565" cy="4564539"/>
          </a:xfrm>
        </p:spPr>
      </p:pic>
      <p:pic>
        <p:nvPicPr>
          <p:cNvPr id="11" name="Content Placeholder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1905000"/>
            <a:ext cx="7607565" cy="4564539"/>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019800"/>
            <a:ext cx="691896" cy="6477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360" y="1752600"/>
            <a:ext cx="8277225" cy="4086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itle 1"/>
          <p:cNvSpPr>
            <a:spLocks noGrp="1"/>
          </p:cNvSpPr>
          <p:nvPr>
            <p:ph type="title"/>
          </p:nvPr>
        </p:nvSpPr>
        <p:spPr>
          <a:xfrm>
            <a:off x="457200" y="274638"/>
            <a:ext cx="8229600" cy="1143000"/>
          </a:xfrm>
        </p:spPr>
        <p:txBody>
          <a:bodyPr>
            <a:normAutofit fontScale="90000"/>
          </a:bodyPr>
          <a:lstStyle/>
          <a:p>
            <a:r>
              <a:rPr lang="en-US" b="1" dirty="0" smtClean="0">
                <a:solidFill>
                  <a:srgbClr val="C00000"/>
                </a:solidFill>
              </a:rPr>
              <a:t>Full </a:t>
            </a:r>
            <a:r>
              <a:rPr lang="en-US" b="1" dirty="0">
                <a:solidFill>
                  <a:srgbClr val="C00000"/>
                </a:solidFill>
              </a:rPr>
              <a:t>Wave </a:t>
            </a:r>
            <a:r>
              <a:rPr lang="en-US" b="1" dirty="0" smtClean="0">
                <a:solidFill>
                  <a:srgbClr val="C00000"/>
                </a:solidFill>
              </a:rPr>
              <a:t>Rectifier (Center Tapped Transformer)</a:t>
            </a:r>
            <a:endParaRPr lang="en-US" dirty="0">
              <a:solidFill>
                <a:srgbClr val="C00000"/>
              </a:solidFil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6156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9"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4000" y="153028"/>
            <a:ext cx="6705600" cy="6608135"/>
          </a:xfr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9"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66800" y="838200"/>
            <a:ext cx="7086600" cy="5636648"/>
          </a:xfr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299"/>
            <a:ext cx="691896" cy="550863"/>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9" name="Title 1"/>
          <p:cNvSpPr>
            <a:spLocks noGrp="1"/>
          </p:cNvSpPr>
          <p:nvPr>
            <p:ph type="title"/>
          </p:nvPr>
        </p:nvSpPr>
        <p:spPr>
          <a:xfrm>
            <a:off x="457200" y="274638"/>
            <a:ext cx="8229600" cy="1143000"/>
          </a:xfrm>
        </p:spPr>
        <p:txBody>
          <a:bodyPr/>
          <a:lstStyle/>
          <a:p>
            <a:r>
              <a:rPr lang="en-US" b="1" dirty="0" smtClean="0">
                <a:solidFill>
                  <a:srgbClr val="C00000"/>
                </a:solidFill>
              </a:rPr>
              <a:t>Full </a:t>
            </a:r>
            <a:r>
              <a:rPr lang="en-US" b="1" dirty="0">
                <a:solidFill>
                  <a:srgbClr val="C00000"/>
                </a:solidFill>
              </a:rPr>
              <a:t>Wave </a:t>
            </a:r>
            <a:r>
              <a:rPr lang="en-US" b="1" dirty="0" smtClean="0">
                <a:solidFill>
                  <a:srgbClr val="C00000"/>
                </a:solidFill>
              </a:rPr>
              <a:t>Rectifier (Bridge)</a:t>
            </a:r>
            <a:endParaRPr lang="en-US" dirty="0">
              <a:solidFill>
                <a:srgbClr val="C00000"/>
              </a:solidFill>
            </a:endParaRPr>
          </a:p>
        </p:txBody>
      </p:sp>
      <p:pic>
        <p:nvPicPr>
          <p:cNvPr id="10"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52757" y="1752600"/>
            <a:ext cx="8934881" cy="4267200"/>
          </a:xfr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6918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9"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600" y="638659"/>
            <a:ext cx="7616407" cy="5554118"/>
          </a:xfr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457200"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3074" name="Picture 2" descr="https://www.electronics-tutorials.ws/wp-content/uploads/2013/08/diode24.gif?fit=364%2C24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143000"/>
            <a:ext cx="7333462" cy="4875543"/>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2133600" y="103189"/>
            <a:ext cx="6396303" cy="707886"/>
          </a:xfrm>
          <a:prstGeom prst="rect">
            <a:avLst/>
          </a:prstGeom>
        </p:spPr>
        <p:txBody>
          <a:bodyPr wrap="none">
            <a:spAutoFit/>
          </a:bodyPr>
          <a:lstStyle/>
          <a:p>
            <a:r>
              <a:rPr lang="en-US" sz="4000" b="1" dirty="0" smtClean="0">
                <a:solidFill>
                  <a:srgbClr val="C00000"/>
                </a:solidFill>
              </a:rPr>
              <a:t>Zener Diode as Regulator</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076565" y="390939"/>
            <a:ext cx="8001000" cy="5632311"/>
          </a:xfrm>
          <a:prstGeom prst="rect">
            <a:avLst/>
          </a:prstGeom>
        </p:spPr>
        <p:txBody>
          <a:bodyPr wrap="square">
            <a:spAutoFit/>
          </a:bodyPr>
          <a:lstStyle/>
          <a:p>
            <a:pPr algn="just"/>
            <a:r>
              <a:rPr lang="en-US" dirty="0">
                <a:solidFill>
                  <a:schemeClr val="tx1"/>
                </a:solidFill>
              </a:rPr>
              <a:t>In the forward-biased direction, that is Anode is more positive with respect to its Cathode, a </a:t>
            </a:r>
            <a:r>
              <a:rPr lang="en-US" b="1" dirty="0">
                <a:solidFill>
                  <a:schemeClr val="tx1"/>
                </a:solidFill>
              </a:rPr>
              <a:t>zener diode</a:t>
            </a:r>
            <a:r>
              <a:rPr lang="en-US" dirty="0">
                <a:solidFill>
                  <a:schemeClr val="tx1"/>
                </a:solidFill>
              </a:rPr>
              <a:t> behaves like a normal junction diode when the forward voltage V</a:t>
            </a:r>
            <a:r>
              <a:rPr lang="en-US" baseline="-25000" dirty="0">
                <a:solidFill>
                  <a:schemeClr val="tx1"/>
                </a:solidFill>
              </a:rPr>
              <a:t>F</a:t>
            </a:r>
            <a:r>
              <a:rPr lang="en-US" dirty="0">
                <a:solidFill>
                  <a:schemeClr val="tx1"/>
                </a:solidFill>
              </a:rPr>
              <a:t> across the diode exceeds 0.7 volts (silicon) causing the zener diode to conduct. The forward current flowing through the conducting diode is at its maximum determined only by the connected load. Thus in the forward-bias direction, the zener behaves like a regular diode within its specified current and/or power limits and as such, the forward characteristics of a zener diode is generally of no interest</a:t>
            </a:r>
            <a:r>
              <a:rPr lang="en-US" dirty="0" smtClean="0">
                <a:solidFill>
                  <a:schemeClr val="tx1"/>
                </a:solidFill>
              </a:rPr>
              <a:t>.</a:t>
            </a:r>
            <a:endParaRPr lang="en-US" dirty="0" smtClean="0">
              <a:solidFill>
                <a:schemeClr val="tx1"/>
              </a:solidFill>
            </a:endParaRPr>
          </a:p>
          <a:p>
            <a:pPr algn="just"/>
            <a:endParaRPr lang="en-US" dirty="0">
              <a:solidFill>
                <a:schemeClr val="tx1"/>
              </a:solidFill>
            </a:endParaRPr>
          </a:p>
          <a:p>
            <a:pPr algn="just"/>
            <a:r>
              <a:rPr lang="en-US" dirty="0">
                <a:solidFill>
                  <a:schemeClr val="tx1"/>
                </a:solidFill>
              </a:rPr>
              <a:t>However, unlike a conventional diode that blocks any flow of current through itself when reverse biased, that is the Cathode becomes more positive than the Anode, as soon as the reverse voltage reaches a pre-determined value, the zener diode begins to conduct in the reverse direction</a:t>
            </a:r>
            <a:r>
              <a:rPr lang="en-US" dirty="0" smtClean="0">
                <a:solidFill>
                  <a:schemeClr val="tx1"/>
                </a:solidFill>
              </a:rPr>
              <a:t>.</a:t>
            </a:r>
            <a:endParaRPr lang="en-US" dirty="0" smtClean="0">
              <a:solidFill>
                <a:schemeClr val="tx1"/>
              </a:solidFill>
            </a:endParaRPr>
          </a:p>
          <a:p>
            <a:pPr algn="just"/>
            <a:endParaRPr lang="en-US" dirty="0">
              <a:solidFill>
                <a:schemeClr val="tx1"/>
              </a:solidFill>
            </a:endParaRPr>
          </a:p>
          <a:p>
            <a:pPr algn="just"/>
            <a:r>
              <a:rPr lang="en-US" dirty="0">
                <a:solidFill>
                  <a:schemeClr val="tx1"/>
                </a:solidFill>
              </a:rPr>
              <a:t>Since a zener diode is designed to work in the reverse breakdown region of its characteristic curve, they have a fixed breakdown voltage, V</a:t>
            </a:r>
            <a:r>
              <a:rPr lang="en-US" baseline="-25000" dirty="0">
                <a:solidFill>
                  <a:schemeClr val="tx1"/>
                </a:solidFill>
              </a:rPr>
              <a:t>Z</a:t>
            </a:r>
            <a:r>
              <a:rPr lang="en-US" dirty="0">
                <a:solidFill>
                  <a:schemeClr val="tx1"/>
                </a:solidFill>
              </a:rPr>
              <a:t> value which is determined during manufacture. As the reverse voltage across the zener diode increases from 0 volts to its zener breakdown voltage, a small reverse or leakage current will flow through the diode which remains fairly constant as the reverse voltage increases.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066800" y="533400"/>
            <a:ext cx="7924800" cy="4524315"/>
          </a:xfrm>
          <a:prstGeom prst="rect">
            <a:avLst/>
          </a:prstGeom>
        </p:spPr>
        <p:txBody>
          <a:bodyPr wrap="square">
            <a:spAutoFit/>
          </a:bodyPr>
          <a:lstStyle/>
          <a:p>
            <a:r>
              <a:rPr lang="en-US" dirty="0">
                <a:solidFill>
                  <a:schemeClr val="tx1"/>
                </a:solidFill>
              </a:rPr>
              <a:t>Once the reverse voltage applied across the zener diode exceeds the rated voltage of the device, a process called </a:t>
            </a:r>
            <a:r>
              <a:rPr lang="en-US" i="1" dirty="0">
                <a:solidFill>
                  <a:schemeClr val="tx1"/>
                </a:solidFill>
              </a:rPr>
              <a:t>Zener Breakdown</a:t>
            </a:r>
            <a:r>
              <a:rPr lang="en-US" dirty="0">
                <a:solidFill>
                  <a:schemeClr val="tx1"/>
                </a:solidFill>
              </a:rPr>
              <a:t> occurs in the semiconductor depletion layer and a current starts to flow through the diode to limit this increase in voltage.</a:t>
            </a:r>
            <a:endParaRPr lang="en-US" dirty="0">
              <a:solidFill>
                <a:schemeClr val="tx1"/>
              </a:solidFill>
            </a:endParaRPr>
          </a:p>
          <a:p>
            <a:r>
              <a:rPr lang="en-US" dirty="0">
                <a:solidFill>
                  <a:schemeClr val="tx1"/>
                </a:solidFill>
              </a:rPr>
              <a:t>The current now flowing through the zener diode increases dramatically to its maximum circuit value (which is usually limited by a series resistor). Once zener breakdown occurs, the voltage drop across the diode remains fairly constant even though the zener current, I</a:t>
            </a:r>
            <a:r>
              <a:rPr lang="en-US" baseline="-25000" dirty="0">
                <a:solidFill>
                  <a:schemeClr val="tx1"/>
                </a:solidFill>
              </a:rPr>
              <a:t>Z</a:t>
            </a:r>
            <a:r>
              <a:rPr lang="en-US" dirty="0">
                <a:solidFill>
                  <a:schemeClr val="tx1"/>
                </a:solidFill>
              </a:rPr>
              <a:t> through it can vary considerably. The voltage point at which the voltage across the zener diode becomes stable is called the “zener voltage”, (V</a:t>
            </a:r>
            <a:r>
              <a:rPr lang="en-US" baseline="-25000" dirty="0">
                <a:solidFill>
                  <a:schemeClr val="tx1"/>
                </a:solidFill>
              </a:rPr>
              <a:t>Z</a:t>
            </a:r>
            <a:r>
              <a:rPr lang="en-US" dirty="0">
                <a:solidFill>
                  <a:schemeClr val="tx1"/>
                </a:solidFill>
              </a:rPr>
              <a:t>). For zener diodes this breakdown voltage value can range from a few volts </a:t>
            </a:r>
            <a:r>
              <a:rPr lang="en-US" dirty="0" err="1">
                <a:solidFill>
                  <a:schemeClr val="tx1"/>
                </a:solidFill>
              </a:rPr>
              <a:t>upto</a:t>
            </a:r>
            <a:r>
              <a:rPr lang="en-US" dirty="0">
                <a:solidFill>
                  <a:schemeClr val="tx1"/>
                </a:solidFill>
              </a:rPr>
              <a:t> a few hundred volts.</a:t>
            </a:r>
            <a:endParaRPr lang="en-US" dirty="0">
              <a:solidFill>
                <a:schemeClr val="tx1"/>
              </a:solidFill>
            </a:endParaRPr>
          </a:p>
          <a:p>
            <a:r>
              <a:rPr lang="en-US" dirty="0">
                <a:solidFill>
                  <a:schemeClr val="tx1"/>
                </a:solidFill>
              </a:rPr>
              <a:t>The point at which the zener voltage triggers the current to flow through the diode can be very accurately controlled (to less than 1% tolerance) in the doping stage of the diodes semiconductor construction giving the diode a specific </a:t>
            </a:r>
            <a:r>
              <a:rPr lang="en-US" i="1" dirty="0">
                <a:solidFill>
                  <a:schemeClr val="tx1"/>
                </a:solidFill>
              </a:rPr>
              <a:t>zener breakdown voltage</a:t>
            </a:r>
            <a:r>
              <a:rPr lang="en-US" dirty="0">
                <a:solidFill>
                  <a:schemeClr val="tx1"/>
                </a:solidFill>
              </a:rPr>
              <a:t>, ( V</a:t>
            </a:r>
            <a:r>
              <a:rPr lang="en-US" baseline="-25000" dirty="0">
                <a:solidFill>
                  <a:schemeClr val="tx1"/>
                </a:solidFill>
              </a:rPr>
              <a:t>Z</a:t>
            </a:r>
            <a:r>
              <a:rPr lang="en-US" dirty="0">
                <a:solidFill>
                  <a:schemeClr val="tx1"/>
                </a:solidFill>
              </a:rPr>
              <a:t> ) for example, 4.3V or 7.5V. This zener breakdown voltage on the I-V curve is almost a vertical straight line.</a:t>
            </a:r>
            <a:endParaRPr lang="en-US" dirty="0">
              <a:solidFill>
                <a:schemeClr val="tx1"/>
              </a:solidFill>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a:spLocks noChangeArrowheads="1"/>
          </p:cNvSpPr>
          <p:nvPr/>
        </p:nvSpPr>
        <p:spPr bwMode="auto">
          <a:xfrm>
            <a:off x="1531906" y="-297927"/>
            <a:ext cx="6080191" cy="105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268203" rIns="0" bIns="88872"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3200" b="1" i="0" u="none" strike="noStrike" cap="none" normalizeH="0" baseline="0" dirty="0" smtClean="0">
                <a:ln>
                  <a:noFill/>
                </a:ln>
                <a:solidFill>
                  <a:srgbClr val="C00000"/>
                </a:solidFill>
                <a:effectLst/>
                <a:latin typeface="Lato"/>
                <a:cs typeface="Arial" panose="020B0604020202020204" pitchFamily="34" charset="0"/>
              </a:rPr>
              <a:t>Zener Diode I-V Characteristics</a:t>
            </a:r>
            <a:endParaRPr kumimoji="0" lang="en-US" sz="3200" b="1" i="0" u="none" strike="noStrike" cap="none" normalizeH="0" baseline="0" dirty="0" smtClean="0">
              <a:ln>
                <a:noFill/>
              </a:ln>
              <a:solidFill>
                <a:srgbClr val="C00000"/>
              </a:solidFill>
              <a:effectLst/>
              <a:latin typeface="Lato"/>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pPr>
            <a:r>
              <a:rPr kumimoji="0" lang="en-US" sz="1300" b="0" i="0" u="none" strike="noStrike" cap="none" normalizeH="0" baseline="0" dirty="0" smtClean="0">
                <a:ln>
                  <a:noFill/>
                </a:ln>
                <a:solidFill>
                  <a:srgbClr val="414042"/>
                </a:solidFill>
                <a:effectLst/>
                <a:latin typeface="Lato"/>
                <a:cs typeface="Arial" panose="020B0604020202020204" pitchFamily="34" charset="0"/>
              </a:rPr>
              <a:t>  </a:t>
            </a:r>
            <a:endParaRPr kumimoji="0" lang="en-US" sz="23200" b="0" i="0" u="none" strike="noStrike" cap="none" normalizeH="0" baseline="0" dirty="0" smtClean="0">
              <a:ln>
                <a:noFill/>
              </a:ln>
              <a:solidFill>
                <a:srgbClr val="414042"/>
              </a:solidFill>
              <a:effectLst/>
              <a:latin typeface="Lato"/>
              <a:cs typeface="Arial" panose="020B0604020202020204" pitchFamily="34" charset="0"/>
            </a:endParaRPr>
          </a:p>
        </p:txBody>
      </p:sp>
      <p:pic>
        <p:nvPicPr>
          <p:cNvPr id="4098" name="Picture 2" descr="zener diode characterist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838200"/>
            <a:ext cx="6477000" cy="5465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3" name="Rectangle 2"/>
          <p:cNvSpPr/>
          <p:nvPr/>
        </p:nvSpPr>
        <p:spPr>
          <a:xfrm>
            <a:off x="1066800" y="612845"/>
            <a:ext cx="7772400" cy="3693319"/>
          </a:xfrm>
          <a:prstGeom prst="rect">
            <a:avLst/>
          </a:prstGeom>
        </p:spPr>
        <p:txBody>
          <a:bodyPr wrap="square">
            <a:spAutoFit/>
          </a:bodyPr>
          <a:lstStyle/>
          <a:p>
            <a:r>
              <a:rPr lang="en-US" b="1" dirty="0">
                <a:solidFill>
                  <a:srgbClr val="C00000"/>
                </a:solidFill>
              </a:rPr>
              <a:t>The Zener Diode Regulator</a:t>
            </a:r>
            <a:endParaRPr lang="en-US" b="1" dirty="0">
              <a:solidFill>
                <a:srgbClr val="C00000"/>
              </a:solidFill>
            </a:endParaRPr>
          </a:p>
          <a:p>
            <a:r>
              <a:rPr lang="en-US" b="1" dirty="0">
                <a:solidFill>
                  <a:schemeClr val="tx1"/>
                </a:solidFill>
              </a:rPr>
              <a:t>Zener Diodes</a:t>
            </a:r>
            <a:r>
              <a:rPr lang="en-US" dirty="0">
                <a:solidFill>
                  <a:schemeClr val="tx1"/>
                </a:solidFill>
              </a:rPr>
              <a:t> can be used to produce a </a:t>
            </a:r>
            <a:r>
              <a:rPr lang="en-US" dirty="0" err="1">
                <a:solidFill>
                  <a:schemeClr val="tx1"/>
                </a:solidFill>
              </a:rPr>
              <a:t>stabilised</a:t>
            </a:r>
            <a:r>
              <a:rPr lang="en-US" dirty="0">
                <a:solidFill>
                  <a:schemeClr val="tx1"/>
                </a:solidFill>
              </a:rPr>
              <a:t> voltage output with low ripple under varying load current conditions. By passing a small current through the diode from a voltage source, via a suitable current limiting resistor (R</a:t>
            </a:r>
            <a:r>
              <a:rPr lang="en-US" baseline="-25000" dirty="0">
                <a:solidFill>
                  <a:schemeClr val="tx1"/>
                </a:solidFill>
              </a:rPr>
              <a:t>S</a:t>
            </a:r>
            <a:r>
              <a:rPr lang="en-US" dirty="0">
                <a:solidFill>
                  <a:schemeClr val="tx1"/>
                </a:solidFill>
              </a:rPr>
              <a:t>), the zener diode will conduct sufficient current to maintain a voltage drop of </a:t>
            </a:r>
            <a:r>
              <a:rPr lang="en-US" dirty="0" err="1">
                <a:solidFill>
                  <a:schemeClr val="tx1"/>
                </a:solidFill>
              </a:rPr>
              <a:t>Vout</a:t>
            </a:r>
            <a:r>
              <a:rPr lang="en-US" dirty="0">
                <a:solidFill>
                  <a:schemeClr val="tx1"/>
                </a:solidFill>
              </a:rPr>
              <a:t>.</a:t>
            </a:r>
            <a:endParaRPr lang="en-US" dirty="0">
              <a:solidFill>
                <a:schemeClr val="tx1"/>
              </a:solidFill>
            </a:endParaRPr>
          </a:p>
          <a:p>
            <a:r>
              <a:rPr lang="en-US" dirty="0">
                <a:solidFill>
                  <a:schemeClr val="tx1"/>
                </a:solidFill>
              </a:rPr>
              <a:t>We remember from the previous tutorials that the DC output voltage from the half or full-wave rectifiers contains ripple superimposed onto the DC voltage and that as the load value changes so to does the average output voltage. By connecting a simple zener </a:t>
            </a:r>
            <a:r>
              <a:rPr lang="en-US" dirty="0" err="1">
                <a:solidFill>
                  <a:schemeClr val="tx1"/>
                </a:solidFill>
              </a:rPr>
              <a:t>stabiliser</a:t>
            </a:r>
            <a:r>
              <a:rPr lang="en-US" dirty="0">
                <a:solidFill>
                  <a:schemeClr val="tx1"/>
                </a:solidFill>
              </a:rPr>
              <a:t> circuit as shown below across the output of the rectifier, a more stable output voltage can be produced.</a:t>
            </a:r>
            <a:endParaRPr lang="en-US" dirty="0">
              <a:solidFill>
                <a:schemeClr val="tx1"/>
              </a:solidFill>
            </a:endParaRPr>
          </a:p>
          <a:p>
            <a:r>
              <a:rPr lang="en-US" b="1" dirty="0">
                <a:solidFill>
                  <a:schemeClr val="tx1"/>
                </a:solidFill>
              </a:rPr>
              <a:t>Zener Diode Regulator</a:t>
            </a:r>
            <a:endParaRPr lang="en-US" b="1" dirty="0">
              <a:solidFill>
                <a:schemeClr val="tx1"/>
              </a:solidFill>
            </a:endParaRPr>
          </a:p>
        </p:txBody>
      </p:sp>
      <p:pic>
        <p:nvPicPr>
          <p:cNvPr id="5124" name="Picture 4" descr="zener diode reg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9450" y="3905250"/>
            <a:ext cx="3467100" cy="23050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3" name="Rectangle 2"/>
          <p:cNvSpPr/>
          <p:nvPr/>
        </p:nvSpPr>
        <p:spPr>
          <a:xfrm>
            <a:off x="1066800" y="1028343"/>
            <a:ext cx="7696200" cy="5016758"/>
          </a:xfrm>
          <a:prstGeom prst="rect">
            <a:avLst/>
          </a:prstGeom>
        </p:spPr>
        <p:txBody>
          <a:bodyPr wrap="square">
            <a:spAutoFit/>
          </a:bodyPr>
          <a:lstStyle/>
          <a:p>
            <a:r>
              <a:rPr lang="en-US" sz="2000" dirty="0">
                <a:solidFill>
                  <a:schemeClr val="tx1"/>
                </a:solidFill>
              </a:rPr>
              <a:t>Voltage regulator: is a circuit that supplies constant voltage regardless of changes in the load current. </a:t>
            </a:r>
            <a:endParaRPr lang="en-US" sz="2000" dirty="0" smtClean="0">
              <a:solidFill>
                <a:schemeClr val="tx1"/>
              </a:solidFill>
            </a:endParaRPr>
          </a:p>
          <a:p>
            <a:r>
              <a:rPr lang="en-US" sz="2000" dirty="0" smtClean="0">
                <a:solidFill>
                  <a:schemeClr val="tx1"/>
                </a:solidFill>
              </a:rPr>
              <a:t> </a:t>
            </a:r>
            <a:r>
              <a:rPr lang="en-US" sz="2000" dirty="0">
                <a:solidFill>
                  <a:schemeClr val="tx1"/>
                </a:solidFill>
              </a:rPr>
              <a:t>Advantages of IC voltage regulator: inexpensive</a:t>
            </a:r>
            <a:r>
              <a:rPr lang="en-US" sz="2000" dirty="0" smtClean="0">
                <a:solidFill>
                  <a:schemeClr val="tx1"/>
                </a:solidFill>
              </a:rPr>
              <a:t>, versatile, provides </a:t>
            </a:r>
            <a:r>
              <a:rPr lang="en-US" sz="2000" dirty="0">
                <a:solidFill>
                  <a:schemeClr val="tx1"/>
                </a:solidFill>
              </a:rPr>
              <a:t>current /voltage boosting, internal short circuit current limiting, thermal shutdown, floating operation for high voltage applications. </a:t>
            </a:r>
            <a:endParaRPr lang="en-US" sz="2000" dirty="0" smtClean="0">
              <a:solidFill>
                <a:schemeClr val="tx1"/>
              </a:solidFill>
            </a:endParaRPr>
          </a:p>
          <a:p>
            <a:r>
              <a:rPr lang="en-US" sz="2000" b="1" dirty="0" smtClean="0">
                <a:solidFill>
                  <a:schemeClr val="tx1"/>
                </a:solidFill>
              </a:rPr>
              <a:t>Classification </a:t>
            </a:r>
            <a:r>
              <a:rPr lang="en-US" sz="2000" b="1" dirty="0">
                <a:solidFill>
                  <a:schemeClr val="tx1"/>
                </a:solidFill>
              </a:rPr>
              <a:t>of IC voltage regulators: </a:t>
            </a:r>
            <a:endParaRPr lang="en-US" sz="2000" b="1" dirty="0" smtClean="0">
              <a:solidFill>
                <a:schemeClr val="tx1"/>
              </a:solidFill>
            </a:endParaRPr>
          </a:p>
          <a:p>
            <a:r>
              <a:rPr lang="en-US" sz="2000" dirty="0" smtClean="0">
                <a:solidFill>
                  <a:schemeClr val="tx1"/>
                </a:solidFill>
              </a:rPr>
              <a:t> </a:t>
            </a:r>
            <a:r>
              <a:rPr lang="en-US" sz="2000" dirty="0">
                <a:solidFill>
                  <a:schemeClr val="tx1"/>
                </a:solidFill>
              </a:rPr>
              <a:t>There are basically two kinds of IC voltage regulators: </a:t>
            </a:r>
            <a:endParaRPr lang="en-US" sz="2000" dirty="0" smtClean="0">
              <a:solidFill>
                <a:schemeClr val="tx1"/>
              </a:solidFill>
            </a:endParaRPr>
          </a:p>
          <a:p>
            <a:pPr marL="342900" indent="-342900">
              <a:buFont typeface="Arial" panose="020B0604020202020204" pitchFamily="34" charset="0"/>
              <a:buChar char="•"/>
            </a:pPr>
            <a:r>
              <a:rPr lang="en-US" sz="2000" dirty="0" smtClean="0">
                <a:solidFill>
                  <a:schemeClr val="tx1"/>
                </a:solidFill>
              </a:rPr>
              <a:t>3-pin </a:t>
            </a:r>
            <a:r>
              <a:rPr lang="en-US" sz="2000" dirty="0">
                <a:solidFill>
                  <a:schemeClr val="tx1"/>
                </a:solidFill>
              </a:rPr>
              <a:t>type, e.g. </a:t>
            </a:r>
            <a:r>
              <a:rPr lang="en-US" sz="2000" dirty="0" smtClean="0">
                <a:solidFill>
                  <a:schemeClr val="tx1"/>
                </a:solidFill>
              </a:rPr>
              <a:t>78/79XX</a:t>
            </a:r>
            <a:endParaRPr lang="en-US" sz="2000" dirty="0" smtClean="0">
              <a:solidFill>
                <a:schemeClr val="tx1"/>
              </a:solidFill>
            </a:endParaRPr>
          </a:p>
          <a:p>
            <a:pPr marL="342900" indent="-342900">
              <a:buFont typeface="Arial" panose="020B0604020202020204" pitchFamily="34" charset="0"/>
              <a:buChar char="•"/>
            </a:pPr>
            <a:r>
              <a:rPr lang="en-US" sz="2000" dirty="0">
                <a:solidFill>
                  <a:schemeClr val="tx1"/>
                </a:solidFill>
              </a:rPr>
              <a:t>Multi-pin type, e.g. LM723C</a:t>
            </a:r>
            <a:endParaRPr lang="en-US" sz="2000" dirty="0">
              <a:solidFill>
                <a:schemeClr val="tx1"/>
              </a:solidFill>
            </a:endParaRPr>
          </a:p>
          <a:p>
            <a:r>
              <a:rPr lang="en-US" sz="2000" dirty="0" smtClean="0">
                <a:solidFill>
                  <a:schemeClr val="tx1"/>
                </a:solidFill>
              </a:rPr>
              <a:t> </a:t>
            </a:r>
            <a:endParaRPr lang="en-US" sz="2000" dirty="0" smtClean="0">
              <a:solidFill>
                <a:schemeClr val="tx1"/>
              </a:solidFill>
            </a:endParaRPr>
          </a:p>
          <a:p>
            <a:pPr marL="342900" indent="-342900">
              <a:buFont typeface="Arial" panose="020B0604020202020204" pitchFamily="34" charset="0"/>
              <a:buChar char="•"/>
            </a:pPr>
            <a:r>
              <a:rPr lang="en-US" sz="2000" dirty="0" smtClean="0">
                <a:solidFill>
                  <a:schemeClr val="tx1"/>
                </a:solidFill>
              </a:rPr>
              <a:t> </a:t>
            </a:r>
            <a:r>
              <a:rPr lang="en-US" sz="2000" dirty="0">
                <a:solidFill>
                  <a:schemeClr val="tx1"/>
                </a:solidFill>
              </a:rPr>
              <a:t>3-pin types make regulator circuit design simple </a:t>
            </a:r>
            <a:endParaRPr lang="en-US" sz="2000" dirty="0" smtClean="0">
              <a:solidFill>
                <a:schemeClr val="tx1"/>
              </a:solidFill>
            </a:endParaRPr>
          </a:p>
          <a:p>
            <a:pPr marL="342900" indent="-342900">
              <a:buFont typeface="Arial" panose="020B0604020202020204" pitchFamily="34" charset="0"/>
              <a:buChar char="•"/>
            </a:pPr>
            <a:r>
              <a:rPr lang="en-US" sz="2000" dirty="0">
                <a:solidFill>
                  <a:schemeClr val="tx1"/>
                </a:solidFill>
              </a:rPr>
              <a:t>Multi-pin regulators are less popular but they provide the greatest flexibility and produce the highest quality voltage regulation </a:t>
            </a:r>
            <a:endParaRPr lang="en-US" sz="2000" dirty="0">
              <a:solidFill>
                <a:schemeClr val="tx1"/>
              </a:solidFill>
            </a:endParaRPr>
          </a:p>
          <a:p>
            <a:endParaRPr lang="en-US" sz="2000" dirty="0">
              <a:solidFill>
                <a:schemeClr val="tx1"/>
              </a:solidFill>
            </a:endParaRPr>
          </a:p>
        </p:txBody>
      </p:sp>
      <p:sp>
        <p:nvSpPr>
          <p:cNvPr id="9" name="Rectangle 8"/>
          <p:cNvSpPr/>
          <p:nvPr/>
        </p:nvSpPr>
        <p:spPr>
          <a:xfrm>
            <a:off x="3155444" y="110446"/>
            <a:ext cx="3518912" cy="707886"/>
          </a:xfrm>
          <a:prstGeom prst="rect">
            <a:avLst/>
          </a:prstGeom>
        </p:spPr>
        <p:txBody>
          <a:bodyPr wrap="none">
            <a:spAutoFit/>
          </a:bodyPr>
          <a:lstStyle/>
          <a:p>
            <a:r>
              <a:rPr lang="en-US" sz="4000" b="1" dirty="0" smtClean="0">
                <a:solidFill>
                  <a:srgbClr val="C00000"/>
                </a:solidFill>
              </a:rPr>
              <a:t>IC Regulators</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3" name="Rectangle 2"/>
          <p:cNvSpPr/>
          <p:nvPr/>
        </p:nvSpPr>
        <p:spPr>
          <a:xfrm>
            <a:off x="1066800" y="1143000"/>
            <a:ext cx="7543800" cy="4739759"/>
          </a:xfrm>
          <a:prstGeom prst="rect">
            <a:avLst/>
          </a:prstGeom>
        </p:spPr>
        <p:txBody>
          <a:bodyPr wrap="square">
            <a:spAutoFit/>
          </a:bodyPr>
          <a:lstStyle/>
          <a:p>
            <a:r>
              <a:rPr lang="en-US" dirty="0">
                <a:solidFill>
                  <a:srgbClr val="FF0000"/>
                </a:solidFill>
              </a:rPr>
              <a:t>Types of IC regulators</a:t>
            </a:r>
            <a:endParaRPr lang="en-US" dirty="0">
              <a:solidFill>
                <a:srgbClr val="FF0000"/>
              </a:solidFill>
            </a:endParaRPr>
          </a:p>
          <a:p>
            <a:r>
              <a:rPr lang="en-US" dirty="0">
                <a:solidFill>
                  <a:schemeClr val="tx1"/>
                </a:solidFill>
              </a:rPr>
              <a:t>IC regulators can be of the following types −</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Fixed Positive voltage regulators</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Fixed Negative voltage regulators</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Adjustable voltage regulators</a:t>
            </a:r>
            <a:endParaRPr lang="en-US" dirty="0">
              <a:solidFill>
                <a:schemeClr val="tx1"/>
              </a:solidFill>
            </a:endParaRPr>
          </a:p>
          <a:p>
            <a:pPr marL="285750" indent="-285750">
              <a:buFont typeface="Arial" panose="020B0604020202020204" pitchFamily="34" charset="0"/>
              <a:buChar char="•"/>
            </a:pPr>
            <a:r>
              <a:rPr lang="en-US" dirty="0">
                <a:solidFill>
                  <a:schemeClr val="tx1"/>
                </a:solidFill>
              </a:rPr>
              <a:t>Dual-tracking voltage regulators</a:t>
            </a:r>
            <a:endParaRPr lang="en-US" dirty="0">
              <a:solidFill>
                <a:schemeClr val="tx1"/>
              </a:solidFill>
            </a:endParaRPr>
          </a:p>
          <a:p>
            <a:r>
              <a:rPr lang="en-US" dirty="0">
                <a:solidFill>
                  <a:schemeClr val="tx1"/>
                </a:solidFill>
              </a:rPr>
              <a:t>Let us now discuss them in detail</a:t>
            </a:r>
            <a:r>
              <a:rPr lang="en-US" dirty="0" smtClean="0">
                <a:solidFill>
                  <a:schemeClr val="tx1"/>
                </a:solidFill>
              </a:rPr>
              <a:t>.</a:t>
            </a:r>
            <a:endParaRPr lang="en-US" dirty="0" smtClean="0">
              <a:solidFill>
                <a:schemeClr val="tx1"/>
              </a:solidFill>
            </a:endParaRPr>
          </a:p>
          <a:p>
            <a:endParaRPr lang="en-US" dirty="0">
              <a:solidFill>
                <a:schemeClr val="tx1"/>
              </a:solidFill>
            </a:endParaRPr>
          </a:p>
          <a:p>
            <a:r>
              <a:rPr lang="en-US" sz="3200" dirty="0">
                <a:solidFill>
                  <a:srgbClr val="C00000"/>
                </a:solidFill>
              </a:rPr>
              <a:t>Fixed Positive Voltage Regulator</a:t>
            </a:r>
            <a:endParaRPr lang="en-US" sz="3200" dirty="0">
              <a:solidFill>
                <a:srgbClr val="C00000"/>
              </a:solidFill>
            </a:endParaRPr>
          </a:p>
          <a:p>
            <a:r>
              <a:rPr lang="en-US" dirty="0">
                <a:solidFill>
                  <a:schemeClr val="tx1"/>
                </a:solidFill>
              </a:rPr>
              <a:t>The output of these regulators is fixed to a specific value and the values are positive, which means the output voltage provided is positive voltage.</a:t>
            </a:r>
            <a:endParaRPr lang="en-US" dirty="0">
              <a:solidFill>
                <a:schemeClr val="tx1"/>
              </a:solidFill>
            </a:endParaRPr>
          </a:p>
          <a:p>
            <a:r>
              <a:rPr lang="en-US" dirty="0">
                <a:solidFill>
                  <a:schemeClr val="tx1"/>
                </a:solidFill>
              </a:rPr>
              <a:t>The most used series is 7800 series and the ICs will be like IC 7806, IC 7812 and IC 7815 etc. which provide +6v, +12v and +15v respectively as output voltages. The figure below shows the IC 7810 connected to provide a fixed 10v positive regulated output voltage</a:t>
            </a:r>
            <a:r>
              <a:rPr lang="en-US" dirty="0"/>
              <a:t>.</a:t>
            </a:r>
            <a:endParaRPr lang="en-US" dirty="0"/>
          </a:p>
        </p:txBody>
      </p:sp>
      <p:sp>
        <p:nvSpPr>
          <p:cNvPr id="9" name="Rectangle 8"/>
          <p:cNvSpPr/>
          <p:nvPr/>
        </p:nvSpPr>
        <p:spPr>
          <a:xfrm>
            <a:off x="2133600" y="103189"/>
            <a:ext cx="3518912" cy="707886"/>
          </a:xfrm>
          <a:prstGeom prst="rect">
            <a:avLst/>
          </a:prstGeom>
        </p:spPr>
        <p:txBody>
          <a:bodyPr wrap="none">
            <a:spAutoFit/>
          </a:bodyPr>
          <a:lstStyle/>
          <a:p>
            <a:r>
              <a:rPr lang="en-US" sz="4000" b="1" dirty="0" smtClean="0">
                <a:solidFill>
                  <a:srgbClr val="C00000"/>
                </a:solidFill>
              </a:rPr>
              <a:t>IC Regulators</a:t>
            </a:r>
            <a:endParaRPr lang="en-US" sz="4000" dirty="0">
              <a:solidFill>
                <a:srgbClr val="C00000"/>
              </a:solidFill>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553998"/>
            <a:ext cx="8054721" cy="53896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TextBox 8"/>
          <p:cNvSpPr txBox="1"/>
          <p:nvPr/>
        </p:nvSpPr>
        <p:spPr>
          <a:xfrm>
            <a:off x="1953418" y="184666"/>
            <a:ext cx="4218782" cy="584775"/>
          </a:xfrm>
          <a:prstGeom prst="rect">
            <a:avLst/>
          </a:prstGeom>
          <a:noFill/>
        </p:spPr>
        <p:txBody>
          <a:bodyPr wrap="square" rtlCol="0">
            <a:spAutoFit/>
          </a:bodyPr>
          <a:lstStyle/>
          <a:p>
            <a:r>
              <a:rPr lang="en-US" sz="3200" dirty="0" smtClean="0">
                <a:solidFill>
                  <a:srgbClr val="C00000"/>
                </a:solidFill>
              </a:rPr>
              <a:t>78XX Basic Features</a:t>
            </a:r>
            <a:endParaRPr lang="en-US" sz="3200" dirty="0">
              <a:solidFill>
                <a:srgbClr val="C00000"/>
              </a:solidFill>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4213225" y="553998"/>
            <a:ext cx="5159375" cy="5509200"/>
          </a:xfrm>
          <a:prstGeom prst="rect">
            <a:avLst/>
          </a:prstGeom>
        </p:spPr>
        <p:txBody>
          <a:bodyPr wrap="square">
            <a:spAutoFit/>
          </a:bodyPr>
          <a:lstStyle/>
          <a:p>
            <a:r>
              <a:rPr lang="en-US" sz="2200" b="1" dirty="0" smtClean="0">
                <a:solidFill>
                  <a:schemeClr val="tx1"/>
                </a:solidFill>
                <a:latin typeface="Times New Roman" panose="02020603050405020304" pitchFamily="16" charset="0"/>
                <a:cs typeface="Times New Roman" panose="02020603050405020304" pitchFamily="16" charset="0"/>
              </a:rPr>
              <a:t>a)positive </a:t>
            </a:r>
            <a:r>
              <a:rPr lang="en-US" sz="2200" b="1" dirty="0">
                <a:solidFill>
                  <a:schemeClr val="tx1"/>
                </a:solidFill>
                <a:latin typeface="Times New Roman" panose="02020603050405020304" pitchFamily="16" charset="0"/>
                <a:cs typeface="Times New Roman" panose="02020603050405020304" pitchFamily="16" charset="0"/>
              </a:rPr>
              <a:t>voltage regulator </a:t>
            </a:r>
            <a:endParaRPr lang="en-US" sz="2200" b="1" dirty="0" smtClean="0">
              <a:solidFill>
                <a:schemeClr val="tx1"/>
              </a:solidFill>
              <a:latin typeface="Times New Roman" panose="02020603050405020304" pitchFamily="16" charset="0"/>
              <a:cs typeface="Times New Roman" panose="02020603050405020304" pitchFamily="16" charset="0"/>
            </a:endParaRPr>
          </a:p>
          <a:p>
            <a:r>
              <a:rPr lang="en-US" sz="2200" dirty="0" smtClean="0">
                <a:solidFill>
                  <a:schemeClr val="tx1"/>
                </a:solidFill>
                <a:latin typeface="Times New Roman" panose="02020603050405020304" pitchFamily="16" charset="0"/>
                <a:cs typeface="Times New Roman" panose="02020603050405020304" pitchFamily="16" charset="0"/>
              </a:rPr>
              <a:t> </a:t>
            </a:r>
            <a:r>
              <a:rPr lang="en-US" sz="2200" dirty="0">
                <a:solidFill>
                  <a:schemeClr val="tx1"/>
                </a:solidFill>
                <a:latin typeface="Times New Roman" panose="02020603050405020304" pitchFamily="16" charset="0"/>
                <a:cs typeface="Times New Roman" panose="02020603050405020304" pitchFamily="16" charset="0"/>
              </a:rPr>
              <a:t>The 78XX voltage regulators </a:t>
            </a:r>
            <a:endParaRPr lang="en-US" sz="2200" dirty="0" smtClean="0">
              <a:solidFill>
                <a:schemeClr val="tx1"/>
              </a:solidFill>
              <a:latin typeface="Times New Roman" panose="02020603050405020304" pitchFamily="16" charset="0"/>
              <a:cs typeface="Times New Roman" panose="02020603050405020304" pitchFamily="16" charset="0"/>
            </a:endParaRPr>
          </a:p>
          <a:p>
            <a:r>
              <a:rPr lang="en-US" sz="2200" dirty="0" smtClean="0">
                <a:solidFill>
                  <a:schemeClr val="tx1"/>
                </a:solidFill>
                <a:latin typeface="Times New Roman" panose="02020603050405020304" pitchFamily="16" charset="0"/>
                <a:cs typeface="Times New Roman" panose="02020603050405020304" pitchFamily="16" charset="0"/>
              </a:rPr>
              <a:t> </a:t>
            </a:r>
            <a:r>
              <a:rPr lang="en-US" sz="2200" dirty="0">
                <a:solidFill>
                  <a:schemeClr val="tx1"/>
                </a:solidFill>
                <a:latin typeface="Times New Roman" panose="02020603050405020304" pitchFamily="16" charset="0"/>
                <a:cs typeface="Times New Roman" panose="02020603050405020304" pitchFamily="16" charset="0"/>
              </a:rPr>
              <a:t>Fig shows the connection diagram of 78XX series </a:t>
            </a:r>
            <a:endParaRPr lang="en-US" sz="2200" dirty="0" smtClean="0">
              <a:solidFill>
                <a:schemeClr val="tx1"/>
              </a:solidFill>
              <a:latin typeface="Times New Roman" panose="02020603050405020304" pitchFamily="16" charset="0"/>
              <a:cs typeface="Times New Roman" panose="02020603050405020304" pitchFamily="16" charset="0"/>
            </a:endParaRPr>
          </a:p>
          <a:p>
            <a:r>
              <a:rPr lang="en-US" sz="2200" dirty="0" smtClean="0">
                <a:solidFill>
                  <a:schemeClr val="tx1"/>
                </a:solidFill>
                <a:latin typeface="Times New Roman" panose="02020603050405020304" pitchFamily="16" charset="0"/>
                <a:cs typeface="Times New Roman" panose="02020603050405020304" pitchFamily="16" charset="0"/>
              </a:rPr>
              <a:t> </a:t>
            </a:r>
            <a:r>
              <a:rPr lang="en-US" sz="2200" dirty="0">
                <a:solidFill>
                  <a:schemeClr val="tx1"/>
                </a:solidFill>
                <a:latin typeface="Times New Roman" panose="02020603050405020304" pitchFamily="16" charset="0"/>
                <a:cs typeface="Times New Roman" panose="02020603050405020304" pitchFamily="16" charset="0"/>
              </a:rPr>
              <a:t>Proper operation requires a common ground between the input and output voltages</a:t>
            </a:r>
            <a:r>
              <a:rPr lang="en-US" sz="2200" dirty="0" smtClean="0">
                <a:solidFill>
                  <a:schemeClr val="tx1"/>
                </a:solidFill>
                <a:latin typeface="Times New Roman" panose="02020603050405020304" pitchFamily="16" charset="0"/>
                <a:cs typeface="Times New Roman" panose="02020603050405020304" pitchFamily="16" charset="0"/>
              </a:rPr>
              <a:t>.</a:t>
            </a:r>
            <a:endParaRPr lang="en-US" sz="2200" dirty="0" smtClean="0">
              <a:solidFill>
                <a:schemeClr val="tx1"/>
              </a:solidFill>
              <a:latin typeface="Times New Roman" panose="02020603050405020304" pitchFamily="16" charset="0"/>
              <a:cs typeface="Times New Roman" panose="02020603050405020304" pitchFamily="16" charset="0"/>
            </a:endParaRPr>
          </a:p>
          <a:p>
            <a:r>
              <a:rPr lang="en-US" sz="2200" dirty="0" smtClean="0">
                <a:solidFill>
                  <a:schemeClr val="tx1"/>
                </a:solidFill>
                <a:latin typeface="Times New Roman" panose="02020603050405020304" pitchFamily="16" charset="0"/>
                <a:cs typeface="Times New Roman" panose="02020603050405020304" pitchFamily="16" charset="0"/>
              </a:rPr>
              <a:t> </a:t>
            </a:r>
            <a:r>
              <a:rPr lang="en-US" sz="2200" dirty="0">
                <a:solidFill>
                  <a:schemeClr val="tx1"/>
                </a:solidFill>
                <a:latin typeface="Times New Roman" panose="02020603050405020304" pitchFamily="16" charset="0"/>
                <a:cs typeface="Times New Roman" panose="02020603050405020304" pitchFamily="16" charset="0"/>
              </a:rPr>
              <a:t> The difference between the input and output voltages(Vin- </a:t>
            </a:r>
            <a:r>
              <a:rPr lang="en-US" sz="2200" dirty="0" err="1">
                <a:solidFill>
                  <a:schemeClr val="tx1"/>
                </a:solidFill>
                <a:latin typeface="Times New Roman" panose="02020603050405020304" pitchFamily="16" charset="0"/>
                <a:cs typeface="Times New Roman" panose="02020603050405020304" pitchFamily="16" charset="0"/>
              </a:rPr>
              <a:t>Vout</a:t>
            </a:r>
            <a:r>
              <a:rPr lang="en-US" sz="2200" dirty="0">
                <a:solidFill>
                  <a:schemeClr val="tx1"/>
                </a:solidFill>
                <a:latin typeface="Times New Roman" panose="02020603050405020304" pitchFamily="16" charset="0"/>
                <a:cs typeface="Times New Roman" panose="02020603050405020304" pitchFamily="16" charset="0"/>
              </a:rPr>
              <a:t>) called dropout voltage must be 2V even during low point in the input ripple voltage. </a:t>
            </a:r>
            <a:endParaRPr lang="en-US" sz="2200" dirty="0" smtClean="0">
              <a:solidFill>
                <a:schemeClr val="tx1"/>
              </a:solidFill>
              <a:latin typeface="Times New Roman" panose="02020603050405020304" pitchFamily="16" charset="0"/>
              <a:cs typeface="Times New Roman" panose="02020603050405020304" pitchFamily="16" charset="0"/>
            </a:endParaRPr>
          </a:p>
          <a:p>
            <a:r>
              <a:rPr lang="en-US" sz="2200" dirty="0" smtClean="0">
                <a:solidFill>
                  <a:schemeClr val="tx1"/>
                </a:solidFill>
                <a:latin typeface="Times New Roman" panose="02020603050405020304" pitchFamily="16" charset="0"/>
                <a:cs typeface="Times New Roman" panose="02020603050405020304" pitchFamily="16" charset="0"/>
              </a:rPr>
              <a:t> </a:t>
            </a:r>
            <a:r>
              <a:rPr lang="en-US" sz="2200" dirty="0">
                <a:solidFill>
                  <a:schemeClr val="tx1"/>
                </a:solidFill>
                <a:latin typeface="Times New Roman" panose="02020603050405020304" pitchFamily="16" charset="0"/>
                <a:cs typeface="Times New Roman" panose="02020603050405020304" pitchFamily="16" charset="0"/>
              </a:rPr>
              <a:t>Capacitor </a:t>
            </a:r>
            <a:r>
              <a:rPr lang="en-US" sz="2200" dirty="0" err="1">
                <a:solidFill>
                  <a:schemeClr val="tx1"/>
                </a:solidFill>
                <a:latin typeface="Times New Roman" panose="02020603050405020304" pitchFamily="16" charset="0"/>
                <a:cs typeface="Times New Roman" panose="02020603050405020304" pitchFamily="16" charset="0"/>
              </a:rPr>
              <a:t>Ci</a:t>
            </a:r>
            <a:r>
              <a:rPr lang="en-US" sz="2200" dirty="0">
                <a:solidFill>
                  <a:schemeClr val="tx1"/>
                </a:solidFill>
                <a:latin typeface="Times New Roman" panose="02020603050405020304" pitchFamily="16" charset="0"/>
                <a:cs typeface="Times New Roman" panose="02020603050405020304" pitchFamily="16" charset="0"/>
              </a:rPr>
              <a:t> , is required if the regulator is located an appreciable distance from a power supply filter. Even though Co is not required, it may be used to improve the transient response of the regulator.</a:t>
            </a:r>
            <a:endParaRPr lang="en-US" sz="2200" dirty="0">
              <a:solidFill>
                <a:schemeClr val="tx1"/>
              </a:solidFill>
              <a:latin typeface="Times New Roman" panose="02020603050405020304" pitchFamily="16" charset="0"/>
              <a:cs typeface="Times New Roman" panose="02020603050405020304" pitchFamily="16"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057" y="1295400"/>
            <a:ext cx="3664743" cy="35756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219200" y="184666"/>
            <a:ext cx="7467600" cy="523220"/>
          </a:xfrm>
          <a:prstGeom prst="rect">
            <a:avLst/>
          </a:prstGeom>
          <a:noFill/>
        </p:spPr>
        <p:txBody>
          <a:bodyPr wrap="square" rtlCol="0">
            <a:spAutoFit/>
          </a:bodyPr>
          <a:lstStyle/>
          <a:p>
            <a:r>
              <a:rPr lang="en-US" sz="2800" b="1" dirty="0">
                <a:solidFill>
                  <a:srgbClr val="C00000"/>
                </a:solidFill>
              </a:rPr>
              <a:t>FIXED </a:t>
            </a:r>
            <a:r>
              <a:rPr lang="en-US" sz="2800" b="1" dirty="0" smtClean="0">
                <a:solidFill>
                  <a:srgbClr val="C00000"/>
                </a:solidFill>
              </a:rPr>
              <a:t>VOLTAGE POSITIVE  </a:t>
            </a:r>
            <a:r>
              <a:rPr lang="en-US" sz="2800" b="1" dirty="0">
                <a:solidFill>
                  <a:srgbClr val="C00000"/>
                </a:solidFill>
              </a:rPr>
              <a:t>REGULATOR</a:t>
            </a:r>
            <a:endParaRPr lang="en-US" sz="2800" b="1" dirty="0">
              <a:solidFill>
                <a:srgbClr val="C00000"/>
              </a:solidFill>
            </a:endParaRPr>
          </a:p>
        </p:txBody>
      </p:sp>
      <p:sp>
        <p:nvSpPr>
          <p:cNvPr id="3" name="Rectangle 2"/>
          <p:cNvSpPr/>
          <p:nvPr/>
        </p:nvSpPr>
        <p:spPr>
          <a:xfrm>
            <a:off x="52492" y="4732972"/>
            <a:ext cx="3932133" cy="1477328"/>
          </a:xfrm>
          <a:prstGeom prst="rect">
            <a:avLst/>
          </a:prstGeom>
        </p:spPr>
        <p:txBody>
          <a:bodyPr wrap="square">
            <a:spAutoFit/>
          </a:bodyPr>
          <a:lstStyle/>
          <a:p>
            <a:pPr lvl="0" algn="just" defTabSz="914400">
              <a:buClrTx/>
              <a:buSzTx/>
            </a:pPr>
            <a:r>
              <a:rPr lang="en-US" dirty="0">
                <a:solidFill>
                  <a:srgbClr val="C00000"/>
                </a:solidFill>
                <a:latin typeface="Nunito"/>
                <a:cs typeface="Arial" panose="020B0604020202020204" pitchFamily="34" charset="0"/>
              </a:rPr>
              <a:t>In the above figure, the input capacitor </a:t>
            </a:r>
            <a:r>
              <a:rPr lang="en-US" dirty="0" err="1" smtClean="0">
                <a:solidFill>
                  <a:srgbClr val="C00000"/>
                </a:solidFill>
                <a:latin typeface="MathJax_Math-italic"/>
                <a:cs typeface="Arial" panose="020B0604020202020204" pitchFamily="34" charset="0"/>
              </a:rPr>
              <a:t>Ci</a:t>
            </a:r>
            <a:r>
              <a:rPr lang="en-US" dirty="0">
                <a:solidFill>
                  <a:srgbClr val="C00000"/>
                </a:solidFill>
                <a:latin typeface="Nunito"/>
                <a:cs typeface="Arial" panose="020B0604020202020204" pitchFamily="34" charset="0"/>
              </a:rPr>
              <a:t> is used to prevent unwanted oscillations and the output capacitor </a:t>
            </a:r>
            <a:r>
              <a:rPr lang="en-US" dirty="0" smtClean="0">
                <a:solidFill>
                  <a:srgbClr val="C00000"/>
                </a:solidFill>
                <a:latin typeface="Nunito"/>
                <a:cs typeface="Arial" panose="020B0604020202020204" pitchFamily="34" charset="0"/>
              </a:rPr>
              <a:t>Co</a:t>
            </a:r>
            <a:r>
              <a:rPr lang="en-US" dirty="0">
                <a:solidFill>
                  <a:srgbClr val="C00000"/>
                </a:solidFill>
                <a:latin typeface="Nunito"/>
                <a:cs typeface="Arial" panose="020B0604020202020204" pitchFamily="34" charset="0"/>
              </a:rPr>
              <a:t> acts as a line filter to improve transient response.</a:t>
            </a:r>
            <a:r>
              <a:rPr lang="en-US" dirty="0">
                <a:solidFill>
                  <a:srgbClr val="C00000"/>
                </a:solidFill>
                <a:cs typeface="Arial" panose="020B0604020202020204" pitchFamily="34" charset="0"/>
              </a:rPr>
              <a:t> </a:t>
            </a:r>
            <a:endParaRPr lang="en-US" dirty="0">
              <a:solidFill>
                <a:srgbClr val="C00000"/>
              </a:solidFill>
              <a:cs typeface="Arial" panose="020B0604020202020204" pitchFamily="34"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186070" y="141239"/>
            <a:ext cx="7696200" cy="2585323"/>
          </a:xfrm>
          <a:prstGeom prst="rect">
            <a:avLst/>
          </a:prstGeom>
        </p:spPr>
        <p:txBody>
          <a:bodyPr wrap="square">
            <a:spAutoFit/>
          </a:bodyPr>
          <a:lstStyle/>
          <a:p>
            <a:r>
              <a:rPr lang="en-US" sz="3600" b="1" dirty="0">
                <a:solidFill>
                  <a:srgbClr val="C00000"/>
                </a:solidFill>
              </a:rPr>
              <a:t>Fixed Negative Voltage Regulator</a:t>
            </a:r>
            <a:endParaRPr lang="en-US" sz="3600" b="1" dirty="0">
              <a:solidFill>
                <a:srgbClr val="C00000"/>
              </a:solidFill>
            </a:endParaRPr>
          </a:p>
          <a:p>
            <a:r>
              <a:rPr lang="en-US" dirty="0">
                <a:solidFill>
                  <a:schemeClr val="tx1"/>
                </a:solidFill>
              </a:rPr>
              <a:t>The output of these regulators is fixed to a specific value and the values are negative, which means the output voltage provided is negative voltage.</a:t>
            </a:r>
            <a:endParaRPr lang="en-US" dirty="0">
              <a:solidFill>
                <a:schemeClr val="tx1"/>
              </a:solidFill>
            </a:endParaRPr>
          </a:p>
          <a:p>
            <a:r>
              <a:rPr lang="en-US" dirty="0">
                <a:solidFill>
                  <a:schemeClr val="tx1"/>
                </a:solidFill>
              </a:rPr>
              <a:t>The most used series is 7900 series and the ICs will be like IC 7906, IC 7912 and IC 7915 etc. which provide -6v, -12v and -15v respectively as output voltages. The figure below shows the IC 7910 connected to provide a fixed 10v negative regulated output voltage</a:t>
            </a:r>
            <a:r>
              <a:rPr lang="en-US" dirty="0"/>
              <a:t>.</a:t>
            </a:r>
            <a:endParaRPr lang="en-US" dirty="0"/>
          </a:p>
        </p:txBody>
      </p:sp>
      <p:pic>
        <p:nvPicPr>
          <p:cNvPr id="8194" name="Picture 2" descr="Fixed Negative Voltage Regulato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819400"/>
            <a:ext cx="5715000" cy="1924051"/>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3"/>
          <p:cNvSpPr>
            <a:spLocks noChangeArrowheads="1"/>
          </p:cNvSpPr>
          <p:nvPr/>
        </p:nvSpPr>
        <p:spPr bwMode="auto">
          <a:xfrm>
            <a:off x="381000" y="4800598"/>
            <a:ext cx="86106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400" b="0" i="0" u="none" strike="noStrike" cap="none" normalizeH="0" baseline="0" dirty="0" smtClean="0">
                <a:ln>
                  <a:noFill/>
                </a:ln>
                <a:solidFill>
                  <a:srgbClr val="000000"/>
                </a:solidFill>
                <a:effectLst/>
                <a:latin typeface="Nunito"/>
                <a:cs typeface="Arial" panose="020B0604020202020204" pitchFamily="34" charset="0"/>
              </a:rPr>
              <a:t>In the above figure, the input capacitor </a:t>
            </a:r>
            <a:r>
              <a:rPr kumimoji="0" lang="en-US" sz="2400" b="0" i="0" u="none" strike="noStrike" cap="none" normalizeH="0" baseline="0" dirty="0" smtClean="0">
                <a:ln>
                  <a:noFill/>
                </a:ln>
                <a:solidFill>
                  <a:srgbClr val="000000"/>
                </a:solidFill>
                <a:effectLst/>
                <a:latin typeface="MathJax_Math-italic"/>
                <a:cs typeface="Arial" panose="020B0604020202020204" pitchFamily="34" charset="0"/>
              </a:rPr>
              <a:t>C1</a:t>
            </a:r>
            <a:r>
              <a:rPr kumimoji="0" lang="en-US" sz="2400" b="0" i="0" u="none" strike="noStrike" cap="none" normalizeH="0" baseline="0" dirty="0" smtClean="0">
                <a:ln>
                  <a:noFill/>
                </a:ln>
                <a:solidFill>
                  <a:srgbClr val="000000"/>
                </a:solidFill>
                <a:effectLst/>
                <a:latin typeface="Nunito"/>
                <a:cs typeface="Arial" panose="020B0604020202020204" pitchFamily="34" charset="0"/>
              </a:rPr>
              <a:t> is used to prevent unwanted oscillations and the output capacitor C2 acts as a line filter to improve transient response.</a:t>
            </a:r>
            <a:r>
              <a:rPr kumimoji="0" lang="en-US" sz="2400" b="0" i="0" u="none" strike="noStrike" cap="none" normalizeH="0" baseline="0" dirty="0" smtClean="0">
                <a:ln>
                  <a:noFill/>
                </a:ln>
                <a:solidFill>
                  <a:schemeClr val="tx1"/>
                </a:solidFill>
                <a:effectLst/>
                <a:cs typeface="Arial" panose="020B0604020202020204" pitchFamily="34" charset="0"/>
              </a:rPr>
              <a:t> </a:t>
            </a:r>
            <a:endParaRPr kumimoji="0" lang="en-US" sz="2400" b="0" i="0" u="none" strike="noStrike" cap="none" normalizeH="0" baseline="0" dirty="0" smtClean="0">
              <a:ln>
                <a:noFill/>
              </a:ln>
              <a:solidFill>
                <a:schemeClr val="tx1"/>
              </a:solidFill>
              <a:effectLst/>
              <a:cs typeface="Arial" panose="020B0604020202020204" pitchFamily="34"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46304" y="1295401"/>
            <a:ext cx="4273296" cy="2585323"/>
          </a:xfrm>
          <a:prstGeom prst="rect">
            <a:avLst/>
          </a:prstGeom>
        </p:spPr>
        <p:txBody>
          <a:bodyPr wrap="square">
            <a:spAutoFit/>
          </a:bodyPr>
          <a:lstStyle/>
          <a:p>
            <a:r>
              <a:rPr lang="en-US" dirty="0">
                <a:solidFill>
                  <a:schemeClr val="tx1"/>
                </a:solidFill>
              </a:rPr>
              <a:t>Negative voltage regulator IC's are available in 79XX series. • These IC's are similar to the 78 series, but operating on negative voltage, and providing a regulated negative output voltage. • The capacitors connected at the input and output sides are used to provide additional filter circuits of regulator circuits.</a:t>
            </a:r>
            <a:endParaRPr lang="en-US" dirty="0">
              <a:solidFill>
                <a:schemeClr val="tx1"/>
              </a:solidFill>
            </a:endParaRPr>
          </a:p>
        </p:txBody>
      </p:sp>
      <p:pic>
        <p:nvPicPr>
          <p:cNvPr id="4098" name="Picture 2" descr="This is the 79xx connection diagra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95018" y="128935"/>
            <a:ext cx="4327935" cy="367823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
          <p:cNvSpPr/>
          <p:nvPr/>
        </p:nvSpPr>
        <p:spPr>
          <a:xfrm>
            <a:off x="761999" y="3962400"/>
            <a:ext cx="8160953" cy="2862322"/>
          </a:xfrm>
          <a:prstGeom prst="rect">
            <a:avLst/>
          </a:prstGeom>
        </p:spPr>
        <p:txBody>
          <a:bodyPr wrap="square">
            <a:spAutoFit/>
          </a:bodyPr>
          <a:lstStyle/>
          <a:p>
            <a:r>
              <a:rPr lang="en-US" dirty="0">
                <a:solidFill>
                  <a:schemeClr val="tx1"/>
                </a:solidFill>
              </a:rPr>
              <a:t>IC 79xx is used in circuits as shown in the circuit above. In order to improve stability, two capacitors—C</a:t>
            </a:r>
            <a:r>
              <a:rPr lang="en-US" baseline="-25000" dirty="0">
                <a:solidFill>
                  <a:schemeClr val="tx1"/>
                </a:solidFill>
              </a:rPr>
              <a:t>1</a:t>
            </a:r>
            <a:r>
              <a:rPr lang="en-US" dirty="0">
                <a:solidFill>
                  <a:schemeClr val="tx1"/>
                </a:solidFill>
              </a:rPr>
              <a:t> and C</a:t>
            </a:r>
            <a:r>
              <a:rPr lang="en-US" baseline="-25000" dirty="0">
                <a:solidFill>
                  <a:schemeClr val="tx1"/>
                </a:solidFill>
              </a:rPr>
              <a:t>2</a:t>
            </a:r>
            <a:r>
              <a:rPr lang="en-US" dirty="0">
                <a:solidFill>
                  <a:schemeClr val="tx1"/>
                </a:solidFill>
              </a:rPr>
              <a:t>—are used.</a:t>
            </a:r>
            <a:endParaRPr lang="en-US" dirty="0">
              <a:solidFill>
                <a:schemeClr val="tx1"/>
              </a:solidFill>
            </a:endParaRPr>
          </a:p>
          <a:p>
            <a:r>
              <a:rPr lang="en-US" dirty="0">
                <a:solidFill>
                  <a:schemeClr val="tx1"/>
                </a:solidFill>
              </a:rPr>
              <a:t>The capacitor C</a:t>
            </a:r>
            <a:r>
              <a:rPr lang="en-US" baseline="-25000" dirty="0">
                <a:solidFill>
                  <a:schemeClr val="tx1"/>
                </a:solidFill>
              </a:rPr>
              <a:t>1 </a:t>
            </a:r>
            <a:r>
              <a:rPr lang="en-US" dirty="0">
                <a:solidFill>
                  <a:schemeClr val="tx1"/>
                </a:solidFill>
              </a:rPr>
              <a:t>is used only if the regulator is separated from filter capacitor by more than 3". It must be a 2.2 </a:t>
            </a:r>
            <a:r>
              <a:rPr lang="en-US" dirty="0" err="1">
                <a:solidFill>
                  <a:schemeClr val="tx1"/>
                </a:solidFill>
              </a:rPr>
              <a:t>μF</a:t>
            </a:r>
            <a:r>
              <a:rPr lang="en-US" dirty="0">
                <a:solidFill>
                  <a:schemeClr val="tx1"/>
                </a:solidFill>
              </a:rPr>
              <a:t> solid tantalum capacitor or 25μF aluminum electrolytic capacitor.</a:t>
            </a:r>
            <a:endParaRPr lang="en-US" dirty="0">
              <a:solidFill>
                <a:schemeClr val="tx1"/>
              </a:solidFill>
            </a:endParaRPr>
          </a:p>
          <a:p>
            <a:r>
              <a:rPr lang="en-US" dirty="0">
                <a:solidFill>
                  <a:schemeClr val="tx1"/>
                </a:solidFill>
              </a:rPr>
              <a:t>The capacitor C</a:t>
            </a:r>
            <a:r>
              <a:rPr lang="en-US" baseline="-25000" dirty="0">
                <a:solidFill>
                  <a:schemeClr val="tx1"/>
                </a:solidFill>
              </a:rPr>
              <a:t>2 </a:t>
            </a:r>
            <a:r>
              <a:rPr lang="en-US" dirty="0">
                <a:solidFill>
                  <a:schemeClr val="tx1"/>
                </a:solidFill>
              </a:rPr>
              <a:t>is required for stability. Usually a 1 </a:t>
            </a:r>
            <a:r>
              <a:rPr lang="en-US" dirty="0" err="1">
                <a:solidFill>
                  <a:schemeClr val="tx1"/>
                </a:solidFill>
              </a:rPr>
              <a:t>μF</a:t>
            </a:r>
            <a:r>
              <a:rPr lang="en-US" dirty="0">
                <a:solidFill>
                  <a:schemeClr val="tx1"/>
                </a:solidFill>
              </a:rPr>
              <a:t> solid tantalum capacitor is used. One can also use a 25μF aluminum electrolytic capacitor. Values given may be increased without limit.</a:t>
            </a:r>
            <a:endParaRPr lang="en-US" dirty="0">
              <a:solidFill>
                <a:schemeClr val="tx1"/>
              </a:solidFill>
            </a:endParaRPr>
          </a:p>
          <a:p>
            <a:br>
              <a:rPr lang="en-US" dirty="0">
                <a:solidFill>
                  <a:schemeClr val="tx1"/>
                </a:solidFill>
              </a:rPr>
            </a:br>
            <a:endParaRPr lang="en-US" dirty="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5122" name="Picture 2" descr="78xx &amp; 79xx Series Voltage Regulators Stabilizers 1A TO-220 Positive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60337"/>
            <a:ext cx="2571750" cy="2571751"/>
          </a:xfrm>
          <a:prstGeom prst="rect">
            <a:avLst/>
          </a:prstGeom>
          <a:noFill/>
          <a:extLst>
            <a:ext uri="{909E8E84-426E-40DD-AFC4-6F175D3DCCD1}">
              <a14:hiddenFill xmlns:a14="http://schemas.microsoft.com/office/drawing/2010/main">
                <a:solidFill>
                  <a:srgbClr val="FFFFFF"/>
                </a:solidFill>
              </a14:hiddenFill>
            </a:ext>
          </a:extLst>
        </p:spPr>
      </p:pic>
      <p:sp>
        <p:nvSpPr>
          <p:cNvPr id="2" name="AutoShape 4" descr="Image result for image of 78XX regulato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3" name="AutoShape 6" descr="Image result for image of 78XX regulator"/>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sp>
        <p:nvSpPr>
          <p:cNvPr id="4" name="AutoShape 8" descr="Image result for image of 78XX regulator"/>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4522" y="2732088"/>
            <a:ext cx="3571875" cy="3295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9649" y="445260"/>
            <a:ext cx="4171950" cy="375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066800" y="58847"/>
            <a:ext cx="8001000" cy="6494085"/>
          </a:xfrm>
          <a:prstGeom prst="rect">
            <a:avLst/>
          </a:prstGeom>
        </p:spPr>
        <p:txBody>
          <a:bodyPr wrap="square">
            <a:spAutoFit/>
          </a:bodyPr>
          <a:lstStyle/>
          <a:p>
            <a:r>
              <a:rPr lang="en-US" sz="2800" b="1" dirty="0">
                <a:solidFill>
                  <a:srgbClr val="C00000"/>
                </a:solidFill>
              </a:rPr>
              <a:t>What is a Bipolar Junction Transistor (BJT)? </a:t>
            </a:r>
            <a:endParaRPr lang="en-US" sz="2800" b="1" dirty="0" smtClean="0">
              <a:solidFill>
                <a:srgbClr val="C00000"/>
              </a:solidFill>
            </a:endParaRPr>
          </a:p>
          <a:p>
            <a:endParaRPr lang="en-US" sz="2800" b="1" dirty="0" smtClean="0">
              <a:solidFill>
                <a:schemeClr val="tx1"/>
              </a:solidFill>
            </a:endParaRPr>
          </a:p>
          <a:p>
            <a:pPr algn="just"/>
            <a:r>
              <a:rPr lang="en-US" sz="2400" dirty="0" smtClean="0">
                <a:solidFill>
                  <a:schemeClr val="tx1"/>
                </a:solidFill>
                <a:latin typeface="Times New Roman" panose="02020603050405020304" pitchFamily="16" charset="0"/>
                <a:cs typeface="Times New Roman" panose="02020603050405020304" pitchFamily="16" charset="0"/>
              </a:rPr>
              <a:t>A </a:t>
            </a:r>
            <a:r>
              <a:rPr lang="en-US" sz="2400" dirty="0">
                <a:solidFill>
                  <a:schemeClr val="tx1"/>
                </a:solidFill>
                <a:latin typeface="Times New Roman" panose="02020603050405020304" pitchFamily="16" charset="0"/>
                <a:cs typeface="Times New Roman" panose="02020603050405020304" pitchFamily="16" charset="0"/>
              </a:rPr>
              <a:t>bipolar junction transistor is a three-terminal semiconductor device that consists of two p-n junctions which are able to amplify or magnify a signal. It is a current controlled device. The three terminals of the BJT are the base, the collector and the emitter. A signal of small amplitude applied to the base is available in the amplified form at the collector of the transistor. This is the amplification provided by the BJT. Note that it does require an external source of DC power supply to carry out the amplification process. </a:t>
            </a:r>
            <a:r>
              <a:rPr lang="en-US" sz="2400" dirty="0">
                <a:solidFill>
                  <a:srgbClr val="C00000"/>
                </a:solidFill>
                <a:latin typeface="Times New Roman" panose="02020603050405020304" pitchFamily="16" charset="0"/>
                <a:cs typeface="Times New Roman" panose="02020603050405020304" pitchFamily="16" charset="0"/>
              </a:rPr>
              <a:t>Bipolar transistors are manufactured in two types, PNP and NPN, and are available as separate components, usually in large quantities</a:t>
            </a:r>
            <a:r>
              <a:rPr lang="en-US" sz="2400" dirty="0">
                <a:solidFill>
                  <a:schemeClr val="tx1"/>
                </a:solidFill>
                <a:latin typeface="Times New Roman" panose="02020603050405020304" pitchFamily="16" charset="0"/>
                <a:cs typeface="Times New Roman" panose="02020603050405020304" pitchFamily="16" charset="0"/>
              </a:rPr>
              <a:t>. The prime use or function of this type of transistor is to amplify current. This makes them useful as switches or amplifiers. They have a wide application in electronic devices like mobile phones, televisions, radio transmitters and industrial </a:t>
            </a:r>
            <a:r>
              <a:rPr lang="en-US" sz="2400" dirty="0" smtClean="0">
                <a:solidFill>
                  <a:schemeClr val="tx1"/>
                </a:solidFill>
                <a:latin typeface="Times New Roman" panose="02020603050405020304" pitchFamily="16" charset="0"/>
                <a:cs typeface="Times New Roman" panose="02020603050405020304" pitchFamily="16" charset="0"/>
              </a:rPr>
              <a:t>control.</a:t>
            </a:r>
            <a:r>
              <a:rPr lang="en-US" dirty="0" smtClean="0"/>
              <a:t>.</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457200"/>
            <a:ext cx="7467600" cy="5846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0538F9E-86D0-4582-ACA6-49831678EB8B}" type="slidenum">
              <a:rPr lang="en-US" smtClean="0"/>
            </a:fld>
            <a:endParaRPr lang="en-US"/>
          </a:p>
        </p:txBody>
      </p:sp>
      <p:pic>
        <p:nvPicPr>
          <p:cNvPr id="3"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5"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2050" name="Picture 2" descr="Transistor Constructi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16765" y="2900860"/>
            <a:ext cx="6536635" cy="2047875"/>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12"/>
          <p:cNvSpPr/>
          <p:nvPr/>
        </p:nvSpPr>
        <p:spPr>
          <a:xfrm>
            <a:off x="1143000" y="315537"/>
            <a:ext cx="7848600" cy="2585323"/>
          </a:xfrm>
          <a:prstGeom prst="rect">
            <a:avLst/>
          </a:prstGeom>
        </p:spPr>
        <p:txBody>
          <a:bodyPr wrap="square">
            <a:spAutoFit/>
          </a:bodyPr>
          <a:lstStyle/>
          <a:p>
            <a:r>
              <a:rPr lang="en-US" sz="3600" dirty="0">
                <a:solidFill>
                  <a:srgbClr val="C00000"/>
                </a:solidFill>
              </a:rPr>
              <a:t>Constructional Details of a Transistor</a:t>
            </a:r>
            <a:endParaRPr lang="en-US" sz="3600" dirty="0">
              <a:solidFill>
                <a:srgbClr val="C00000"/>
              </a:solidFill>
            </a:endParaRPr>
          </a:p>
          <a:p>
            <a:pPr algn="just"/>
            <a:r>
              <a:rPr lang="en-US" dirty="0">
                <a:solidFill>
                  <a:schemeClr val="tx1"/>
                </a:solidFill>
              </a:rPr>
              <a:t>The Transistor is a three terminal solid state device which is formed by connecting two diodes back to back. Hence it has got </a:t>
            </a:r>
            <a:r>
              <a:rPr lang="en-US" b="1" dirty="0">
                <a:solidFill>
                  <a:schemeClr val="tx1"/>
                </a:solidFill>
              </a:rPr>
              <a:t>two PN junctions</a:t>
            </a:r>
            <a:r>
              <a:rPr lang="en-US" dirty="0">
                <a:solidFill>
                  <a:schemeClr val="tx1"/>
                </a:solidFill>
              </a:rPr>
              <a:t>. Three terminals are drawn out of the three semiconductor materials present in it. This type of connection offers two types of transistors. They are </a:t>
            </a:r>
            <a:r>
              <a:rPr lang="en-US" b="1" dirty="0">
                <a:solidFill>
                  <a:schemeClr val="tx1"/>
                </a:solidFill>
              </a:rPr>
              <a:t>PNP</a:t>
            </a:r>
            <a:r>
              <a:rPr lang="en-US" dirty="0">
                <a:solidFill>
                  <a:schemeClr val="tx1"/>
                </a:solidFill>
              </a:rPr>
              <a:t> and </a:t>
            </a:r>
            <a:r>
              <a:rPr lang="en-US" b="1" dirty="0">
                <a:solidFill>
                  <a:schemeClr val="tx1"/>
                </a:solidFill>
              </a:rPr>
              <a:t>NPN</a:t>
            </a:r>
            <a:r>
              <a:rPr lang="en-US" dirty="0">
                <a:solidFill>
                  <a:schemeClr val="tx1"/>
                </a:solidFill>
              </a:rPr>
              <a:t> which means an N-type material between two </a:t>
            </a:r>
            <a:r>
              <a:rPr lang="en-US" dirty="0" smtClean="0">
                <a:solidFill>
                  <a:schemeClr val="tx1"/>
                </a:solidFill>
              </a:rPr>
              <a:t>P-types </a:t>
            </a:r>
            <a:r>
              <a:rPr lang="en-US" dirty="0">
                <a:solidFill>
                  <a:schemeClr val="tx1"/>
                </a:solidFill>
              </a:rPr>
              <a:t>and the other is a P-type material between two N-types respectively.</a:t>
            </a:r>
            <a:endParaRPr lang="en-US" dirty="0">
              <a:solidFill>
                <a:schemeClr val="tx1"/>
              </a:solidFill>
            </a:endParaRPr>
          </a:p>
          <a:p>
            <a:pPr algn="just"/>
            <a:r>
              <a:rPr lang="en-US" dirty="0">
                <a:solidFill>
                  <a:schemeClr val="tx1"/>
                </a:solidFill>
              </a:rPr>
              <a:t>The following illustration shows the basic construction of transistors</a:t>
            </a:r>
            <a:endParaRPr lang="en-US" dirty="0">
              <a:solidFill>
                <a:schemeClr val="tx1"/>
              </a:solidFill>
            </a:endParaRP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970807"/>
            <a:ext cx="1600200" cy="1267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67400" y="4825448"/>
            <a:ext cx="1781175" cy="13848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20538F9E-86D0-4582-ACA6-49831678EB8B}" type="slidenum">
              <a:rPr lang="en-US" smtClean="0"/>
            </a:fld>
            <a:endParaRPr lang="en-US"/>
          </a:p>
        </p:txBody>
      </p:sp>
      <p:pic>
        <p:nvPicPr>
          <p:cNvPr id="3"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5"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6" name="Rectangle 5"/>
          <p:cNvSpPr/>
          <p:nvPr/>
        </p:nvSpPr>
        <p:spPr>
          <a:xfrm>
            <a:off x="1143000" y="76200"/>
            <a:ext cx="7848600" cy="6309420"/>
          </a:xfrm>
          <a:prstGeom prst="rect">
            <a:avLst/>
          </a:prstGeom>
        </p:spPr>
        <p:txBody>
          <a:bodyPr wrap="square">
            <a:spAutoFit/>
          </a:bodyPr>
          <a:lstStyle/>
          <a:p>
            <a:pPr algn="just"/>
            <a:r>
              <a:rPr lang="en-US" sz="2000" dirty="0">
                <a:solidFill>
                  <a:schemeClr val="tx1"/>
                </a:solidFill>
              </a:rPr>
              <a:t>The three terminals drawn from the transistor indicate </a:t>
            </a:r>
            <a:r>
              <a:rPr lang="en-US" sz="2000" b="1" dirty="0" smtClean="0">
                <a:solidFill>
                  <a:schemeClr val="tx1"/>
                </a:solidFill>
              </a:rPr>
              <a:t>Emitter, Base</a:t>
            </a:r>
            <a:r>
              <a:rPr lang="en-US" sz="2000" dirty="0">
                <a:solidFill>
                  <a:schemeClr val="tx1"/>
                </a:solidFill>
              </a:rPr>
              <a:t> and </a:t>
            </a:r>
            <a:r>
              <a:rPr lang="en-US" sz="2000" b="1" dirty="0">
                <a:solidFill>
                  <a:schemeClr val="tx1"/>
                </a:solidFill>
              </a:rPr>
              <a:t>Collector</a:t>
            </a:r>
            <a:r>
              <a:rPr lang="en-US" sz="2000" dirty="0">
                <a:solidFill>
                  <a:schemeClr val="tx1"/>
                </a:solidFill>
              </a:rPr>
              <a:t> terminals. They have their functionality as discussed below.</a:t>
            </a:r>
            <a:endParaRPr lang="en-US" sz="2000" dirty="0">
              <a:solidFill>
                <a:schemeClr val="tx1"/>
              </a:solidFill>
            </a:endParaRPr>
          </a:p>
          <a:p>
            <a:pPr algn="just"/>
            <a:r>
              <a:rPr lang="en-US" sz="2800" dirty="0">
                <a:solidFill>
                  <a:srgbClr val="C00000"/>
                </a:solidFill>
              </a:rPr>
              <a:t>Emitter</a:t>
            </a:r>
            <a:endParaRPr lang="en-US" sz="2800" dirty="0">
              <a:solidFill>
                <a:srgbClr val="C00000"/>
              </a:solidFill>
            </a:endParaRPr>
          </a:p>
          <a:p>
            <a:pPr algn="just"/>
            <a:r>
              <a:rPr lang="en-US" sz="2000" dirty="0">
                <a:solidFill>
                  <a:schemeClr val="tx1"/>
                </a:solidFill>
              </a:rPr>
              <a:t>The left-hand side of the above shown structure can be understood as </a:t>
            </a:r>
            <a:r>
              <a:rPr lang="en-US" sz="2000" b="1" dirty="0" smtClean="0">
                <a:solidFill>
                  <a:schemeClr val="tx1"/>
                </a:solidFill>
              </a:rPr>
              <a:t>Emitter</a:t>
            </a:r>
            <a:r>
              <a:rPr lang="en-US" sz="2000" dirty="0" smtClean="0">
                <a:solidFill>
                  <a:schemeClr val="tx1"/>
                </a:solidFill>
              </a:rPr>
              <a:t>. This </a:t>
            </a:r>
            <a:r>
              <a:rPr lang="en-US" sz="2000" dirty="0">
                <a:solidFill>
                  <a:schemeClr val="tx1"/>
                </a:solidFill>
              </a:rPr>
              <a:t>has a </a:t>
            </a:r>
            <a:r>
              <a:rPr lang="en-US" sz="2000" b="1" dirty="0">
                <a:solidFill>
                  <a:schemeClr val="tx1"/>
                </a:solidFill>
              </a:rPr>
              <a:t>moderate size</a:t>
            </a:r>
            <a:r>
              <a:rPr lang="en-US" sz="2000" dirty="0">
                <a:solidFill>
                  <a:schemeClr val="tx1"/>
                </a:solidFill>
              </a:rPr>
              <a:t> and is </a:t>
            </a:r>
            <a:r>
              <a:rPr lang="en-US" sz="2000" b="1" dirty="0">
                <a:solidFill>
                  <a:schemeClr val="tx1"/>
                </a:solidFill>
              </a:rPr>
              <a:t>heavily doped</a:t>
            </a:r>
            <a:r>
              <a:rPr lang="en-US" sz="2000" dirty="0">
                <a:solidFill>
                  <a:schemeClr val="tx1"/>
                </a:solidFill>
              </a:rPr>
              <a:t> as its main function is to </a:t>
            </a:r>
            <a:r>
              <a:rPr lang="en-US" sz="2000" b="1" dirty="0">
                <a:solidFill>
                  <a:schemeClr val="tx1"/>
                </a:solidFill>
              </a:rPr>
              <a:t>supply</a:t>
            </a:r>
            <a:r>
              <a:rPr lang="en-US" sz="2000" dirty="0">
                <a:solidFill>
                  <a:schemeClr val="tx1"/>
                </a:solidFill>
              </a:rPr>
              <a:t> a number of </a:t>
            </a:r>
            <a:r>
              <a:rPr lang="en-US" sz="2000" b="1" dirty="0">
                <a:solidFill>
                  <a:schemeClr val="tx1"/>
                </a:solidFill>
              </a:rPr>
              <a:t>majority carriers</a:t>
            </a:r>
            <a:r>
              <a:rPr lang="en-US" sz="2000" dirty="0">
                <a:solidFill>
                  <a:schemeClr val="tx1"/>
                </a:solidFill>
              </a:rPr>
              <a:t>, i.e. either electrons or </a:t>
            </a:r>
            <a:r>
              <a:rPr lang="en-US" sz="2000" dirty="0" smtClean="0">
                <a:solidFill>
                  <a:schemeClr val="tx1"/>
                </a:solidFill>
              </a:rPr>
              <a:t>holes. As </a:t>
            </a:r>
            <a:r>
              <a:rPr lang="en-US" sz="2000" dirty="0">
                <a:solidFill>
                  <a:schemeClr val="tx1"/>
                </a:solidFill>
              </a:rPr>
              <a:t>this emits electrons, it is called as an </a:t>
            </a:r>
            <a:r>
              <a:rPr lang="en-US" sz="2000" dirty="0" smtClean="0">
                <a:solidFill>
                  <a:schemeClr val="tx1"/>
                </a:solidFill>
              </a:rPr>
              <a:t>Emitter. This </a:t>
            </a:r>
            <a:r>
              <a:rPr lang="en-US" sz="2000" dirty="0">
                <a:solidFill>
                  <a:schemeClr val="tx1"/>
                </a:solidFill>
              </a:rPr>
              <a:t>is simply indicated with the letter </a:t>
            </a:r>
            <a:r>
              <a:rPr lang="en-US" sz="2000" b="1" dirty="0">
                <a:solidFill>
                  <a:schemeClr val="tx1"/>
                </a:solidFill>
              </a:rPr>
              <a:t>E</a:t>
            </a:r>
            <a:r>
              <a:rPr lang="en-US" sz="2000" dirty="0">
                <a:solidFill>
                  <a:schemeClr val="tx1"/>
                </a:solidFill>
              </a:rPr>
              <a:t>.</a:t>
            </a:r>
            <a:endParaRPr lang="en-US" sz="2000" dirty="0">
              <a:solidFill>
                <a:schemeClr val="tx1"/>
              </a:solidFill>
            </a:endParaRPr>
          </a:p>
          <a:p>
            <a:pPr algn="just"/>
            <a:r>
              <a:rPr lang="en-US" sz="2800" dirty="0">
                <a:solidFill>
                  <a:srgbClr val="C00000"/>
                </a:solidFill>
              </a:rPr>
              <a:t>Base</a:t>
            </a:r>
            <a:endParaRPr lang="en-US" sz="2800" dirty="0">
              <a:solidFill>
                <a:srgbClr val="C00000"/>
              </a:solidFill>
            </a:endParaRPr>
          </a:p>
          <a:p>
            <a:pPr algn="just"/>
            <a:r>
              <a:rPr lang="en-US" sz="2000" dirty="0">
                <a:solidFill>
                  <a:schemeClr val="tx1"/>
                </a:solidFill>
              </a:rPr>
              <a:t>The middle material in the above figure is the </a:t>
            </a:r>
            <a:r>
              <a:rPr lang="en-US" sz="2000" b="1" dirty="0" smtClean="0">
                <a:solidFill>
                  <a:schemeClr val="tx1"/>
                </a:solidFill>
              </a:rPr>
              <a:t>Base</a:t>
            </a:r>
            <a:r>
              <a:rPr lang="en-US" sz="2000" dirty="0" smtClean="0">
                <a:solidFill>
                  <a:schemeClr val="tx1"/>
                </a:solidFill>
              </a:rPr>
              <a:t>. This </a:t>
            </a:r>
            <a:r>
              <a:rPr lang="en-US" sz="2000" dirty="0">
                <a:solidFill>
                  <a:schemeClr val="tx1"/>
                </a:solidFill>
              </a:rPr>
              <a:t>is </a:t>
            </a:r>
            <a:r>
              <a:rPr lang="en-US" sz="2000" b="1" dirty="0">
                <a:solidFill>
                  <a:schemeClr val="tx1"/>
                </a:solidFill>
              </a:rPr>
              <a:t>thin</a:t>
            </a:r>
            <a:r>
              <a:rPr lang="en-US" sz="2000" dirty="0">
                <a:solidFill>
                  <a:schemeClr val="tx1"/>
                </a:solidFill>
              </a:rPr>
              <a:t> and </a:t>
            </a:r>
            <a:r>
              <a:rPr lang="en-US" sz="2000" b="1" dirty="0">
                <a:solidFill>
                  <a:schemeClr val="tx1"/>
                </a:solidFill>
              </a:rPr>
              <a:t>lightly doped</a:t>
            </a:r>
            <a:r>
              <a:rPr lang="en-US" sz="2000" dirty="0" smtClean="0">
                <a:solidFill>
                  <a:schemeClr val="tx1"/>
                </a:solidFill>
              </a:rPr>
              <a:t>. Its </a:t>
            </a:r>
            <a:r>
              <a:rPr lang="en-US" sz="2000" dirty="0">
                <a:solidFill>
                  <a:schemeClr val="tx1"/>
                </a:solidFill>
              </a:rPr>
              <a:t>main function is to </a:t>
            </a:r>
            <a:r>
              <a:rPr lang="en-US" sz="2000" b="1" dirty="0">
                <a:solidFill>
                  <a:schemeClr val="tx1"/>
                </a:solidFill>
              </a:rPr>
              <a:t>pass</a:t>
            </a:r>
            <a:r>
              <a:rPr lang="en-US" sz="2000" dirty="0">
                <a:solidFill>
                  <a:schemeClr val="tx1"/>
                </a:solidFill>
              </a:rPr>
              <a:t> the majority carriers from the emitter to the</a:t>
            </a:r>
            <a:r>
              <a:rPr lang="en-US" sz="1600" dirty="0">
                <a:solidFill>
                  <a:schemeClr val="tx1"/>
                </a:solidFill>
              </a:rPr>
              <a:t> </a:t>
            </a:r>
            <a:r>
              <a:rPr lang="en-US" sz="2000" dirty="0" smtClean="0">
                <a:solidFill>
                  <a:schemeClr val="tx1"/>
                </a:solidFill>
              </a:rPr>
              <a:t>collector</a:t>
            </a:r>
            <a:r>
              <a:rPr lang="en-US" sz="2000" dirty="0" smtClean="0">
                <a:solidFill>
                  <a:srgbClr val="C00000"/>
                </a:solidFill>
              </a:rPr>
              <a:t>. </a:t>
            </a:r>
            <a:r>
              <a:rPr lang="en-US" sz="2000" dirty="0" smtClean="0">
                <a:solidFill>
                  <a:schemeClr val="tx1"/>
                </a:solidFill>
              </a:rPr>
              <a:t>This </a:t>
            </a:r>
            <a:r>
              <a:rPr lang="en-US" sz="2000" dirty="0">
                <a:solidFill>
                  <a:schemeClr val="tx1"/>
                </a:solidFill>
              </a:rPr>
              <a:t>is indicated by the letter </a:t>
            </a:r>
            <a:r>
              <a:rPr lang="en-US" sz="2000" b="1" dirty="0">
                <a:solidFill>
                  <a:schemeClr val="tx1"/>
                </a:solidFill>
              </a:rPr>
              <a:t>B</a:t>
            </a:r>
            <a:r>
              <a:rPr lang="en-US" sz="2000" dirty="0">
                <a:solidFill>
                  <a:schemeClr val="tx1"/>
                </a:solidFill>
              </a:rPr>
              <a:t>.</a:t>
            </a:r>
            <a:endParaRPr lang="en-US" sz="2000" dirty="0">
              <a:solidFill>
                <a:schemeClr val="tx1"/>
              </a:solidFill>
            </a:endParaRPr>
          </a:p>
          <a:p>
            <a:pPr algn="just"/>
            <a:r>
              <a:rPr lang="en-US" sz="2800" dirty="0">
                <a:solidFill>
                  <a:srgbClr val="C00000"/>
                </a:solidFill>
              </a:rPr>
              <a:t>Collector</a:t>
            </a:r>
            <a:endParaRPr lang="en-US" sz="2800" dirty="0">
              <a:solidFill>
                <a:srgbClr val="C00000"/>
              </a:solidFill>
            </a:endParaRPr>
          </a:p>
          <a:p>
            <a:pPr algn="just"/>
            <a:r>
              <a:rPr lang="en-US" sz="2000" dirty="0">
                <a:solidFill>
                  <a:schemeClr val="tx1"/>
                </a:solidFill>
              </a:rPr>
              <a:t>The right side material in the above figure can be understood as a </a:t>
            </a:r>
            <a:r>
              <a:rPr lang="en-US" sz="2000" b="1" dirty="0" smtClean="0">
                <a:solidFill>
                  <a:schemeClr val="tx1"/>
                </a:solidFill>
              </a:rPr>
              <a:t>Collector</a:t>
            </a:r>
            <a:r>
              <a:rPr lang="en-US" sz="2000" dirty="0" smtClean="0">
                <a:solidFill>
                  <a:schemeClr val="tx1"/>
                </a:solidFill>
              </a:rPr>
              <a:t>. Its </a:t>
            </a:r>
            <a:r>
              <a:rPr lang="en-US" sz="2000" dirty="0">
                <a:solidFill>
                  <a:schemeClr val="tx1"/>
                </a:solidFill>
              </a:rPr>
              <a:t>name implies its function of </a:t>
            </a:r>
            <a:r>
              <a:rPr lang="en-US" sz="2000" b="1" dirty="0">
                <a:solidFill>
                  <a:schemeClr val="tx1"/>
                </a:solidFill>
              </a:rPr>
              <a:t>collecting the </a:t>
            </a:r>
            <a:r>
              <a:rPr lang="en-US" sz="2000" b="1" dirty="0" smtClean="0">
                <a:solidFill>
                  <a:schemeClr val="tx1"/>
                </a:solidFill>
              </a:rPr>
              <a:t>carriers</a:t>
            </a:r>
            <a:r>
              <a:rPr lang="en-US" sz="2000" dirty="0" smtClean="0">
                <a:solidFill>
                  <a:schemeClr val="tx1"/>
                </a:solidFill>
              </a:rPr>
              <a:t>. This </a:t>
            </a:r>
            <a:r>
              <a:rPr lang="en-US" sz="2000" dirty="0">
                <a:solidFill>
                  <a:schemeClr val="tx1"/>
                </a:solidFill>
              </a:rPr>
              <a:t>is a </a:t>
            </a:r>
            <a:r>
              <a:rPr lang="en-US" sz="2000" b="1" dirty="0">
                <a:solidFill>
                  <a:schemeClr val="tx1"/>
                </a:solidFill>
              </a:rPr>
              <a:t>bit larger</a:t>
            </a:r>
            <a:r>
              <a:rPr lang="en-US" sz="2000" dirty="0">
                <a:solidFill>
                  <a:schemeClr val="tx1"/>
                </a:solidFill>
              </a:rPr>
              <a:t> in size than emitter and base. It is </a:t>
            </a:r>
            <a:r>
              <a:rPr lang="en-US" sz="2000" b="1" dirty="0">
                <a:solidFill>
                  <a:schemeClr val="tx1"/>
                </a:solidFill>
              </a:rPr>
              <a:t>moderately </a:t>
            </a:r>
            <a:r>
              <a:rPr lang="en-US" sz="2000" b="1" dirty="0" smtClean="0">
                <a:solidFill>
                  <a:schemeClr val="tx1"/>
                </a:solidFill>
              </a:rPr>
              <a:t>doped. </a:t>
            </a:r>
            <a:r>
              <a:rPr lang="en-US" sz="2000" dirty="0" smtClean="0">
                <a:solidFill>
                  <a:schemeClr val="tx1"/>
                </a:solidFill>
              </a:rPr>
              <a:t>This </a:t>
            </a:r>
            <a:r>
              <a:rPr lang="en-US" sz="2000" dirty="0">
                <a:solidFill>
                  <a:schemeClr val="tx1"/>
                </a:solidFill>
              </a:rPr>
              <a:t>is indicated by the letter </a:t>
            </a:r>
            <a:r>
              <a:rPr lang="en-US" sz="2000" b="1" dirty="0">
                <a:solidFill>
                  <a:schemeClr val="tx1"/>
                </a:solidFill>
              </a:rPr>
              <a:t>C</a:t>
            </a:r>
            <a:r>
              <a:rPr lang="en-US" sz="2000" dirty="0">
                <a:solidFill>
                  <a:schemeClr val="tx1"/>
                </a:solidFill>
              </a:rPr>
              <a:t>.</a:t>
            </a:r>
            <a:endParaRPr lang="en-US" sz="2000" dirty="0">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2286000" y="1166843"/>
            <a:ext cx="6400800" cy="3139321"/>
          </a:xfrm>
          <a:prstGeom prst="rect">
            <a:avLst/>
          </a:prstGeom>
        </p:spPr>
        <p:txBody>
          <a:bodyPr wrap="square">
            <a:spAutoFit/>
          </a:bodyPr>
          <a:lstStyle/>
          <a:p>
            <a:r>
              <a:rPr lang="en-US" dirty="0" smtClean="0">
                <a:solidFill>
                  <a:schemeClr val="tx1"/>
                </a:solidFill>
              </a:rPr>
              <a:t>If </a:t>
            </a:r>
            <a:r>
              <a:rPr lang="en-US" dirty="0">
                <a:solidFill>
                  <a:schemeClr val="tx1"/>
                </a:solidFill>
              </a:rPr>
              <a:t>the circuit uses the </a:t>
            </a:r>
            <a:r>
              <a:rPr lang="en-US" b="1" dirty="0">
                <a:solidFill>
                  <a:schemeClr val="tx1"/>
                </a:solidFill>
              </a:rPr>
              <a:t>Bipolar Transistor as a Switch</a:t>
            </a:r>
            <a:r>
              <a:rPr lang="en-US" dirty="0">
                <a:solidFill>
                  <a:schemeClr val="tx1"/>
                </a:solidFill>
              </a:rPr>
              <a:t>, then the biasing of the transistor, either NPN or PNP is arranged to operate the transistor at both sides of the ” I-V ” characteristics curves we have seen previously.</a:t>
            </a:r>
            <a:endParaRPr lang="en-US" dirty="0">
              <a:solidFill>
                <a:schemeClr val="tx1"/>
              </a:solidFill>
            </a:endParaRPr>
          </a:p>
          <a:p>
            <a:r>
              <a:rPr lang="en-US" dirty="0">
                <a:solidFill>
                  <a:schemeClr val="tx1"/>
                </a:solidFill>
              </a:rPr>
              <a:t>The areas of operation for a transistor switch are known as the </a:t>
            </a:r>
            <a:r>
              <a:rPr lang="en-US" b="1" dirty="0">
                <a:solidFill>
                  <a:schemeClr val="tx1"/>
                </a:solidFill>
              </a:rPr>
              <a:t>Saturation Region</a:t>
            </a:r>
            <a:r>
              <a:rPr lang="en-US" dirty="0">
                <a:solidFill>
                  <a:schemeClr val="tx1"/>
                </a:solidFill>
              </a:rPr>
              <a:t> and the </a:t>
            </a:r>
            <a:r>
              <a:rPr lang="en-US" b="1" dirty="0">
                <a:solidFill>
                  <a:schemeClr val="tx1"/>
                </a:solidFill>
              </a:rPr>
              <a:t>Cut-off Region</a:t>
            </a:r>
            <a:r>
              <a:rPr lang="en-US" dirty="0">
                <a:solidFill>
                  <a:schemeClr val="tx1"/>
                </a:solidFill>
              </a:rPr>
              <a:t>. This means then that we can ignore the operating Q-point biasing and voltage divider circuitry required for amplification, and use the transistor as a switch by driving it back and forth between its “fully-OFF” (cut-off) and “fully-ON” (saturation) regions as shown below.</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922492" y="88595"/>
            <a:ext cx="2852063" cy="369332"/>
          </a:xfrm>
          <a:prstGeom prst="rect">
            <a:avLst/>
          </a:prstGeom>
        </p:spPr>
        <p:txBody>
          <a:bodyPr wrap="none">
            <a:spAutoFit/>
          </a:bodyPr>
          <a:lstStyle/>
          <a:p>
            <a:r>
              <a:rPr lang="en-US" b="1" dirty="0">
                <a:solidFill>
                  <a:srgbClr val="C00000"/>
                </a:solidFill>
              </a:rPr>
              <a:t>Cut-off </a:t>
            </a:r>
            <a:r>
              <a:rPr lang="en-US" b="1" dirty="0" smtClean="0">
                <a:solidFill>
                  <a:srgbClr val="C00000"/>
                </a:solidFill>
              </a:rPr>
              <a:t>region Condition</a:t>
            </a:r>
            <a:endParaRPr lang="en-US" b="1" dirty="0">
              <a:solidFill>
                <a:srgbClr val="C00000"/>
              </a:solidFill>
            </a:endParaRPr>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514629"/>
            <a:ext cx="6958011" cy="2838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17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5096" y="3462130"/>
            <a:ext cx="7239795" cy="300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1922491" y="3277464"/>
            <a:ext cx="3300904" cy="369332"/>
          </a:xfrm>
          <a:prstGeom prst="rect">
            <a:avLst/>
          </a:prstGeom>
        </p:spPr>
        <p:txBody>
          <a:bodyPr wrap="none">
            <a:spAutoFit/>
          </a:bodyPr>
          <a:lstStyle/>
          <a:p>
            <a:r>
              <a:rPr lang="en-US" b="1" dirty="0" smtClean="0">
                <a:solidFill>
                  <a:srgbClr val="C00000"/>
                </a:solidFill>
              </a:rPr>
              <a:t>Saturation region  Condition</a:t>
            </a:r>
            <a:endParaRPr lang="en-US" b="1" dirty="0">
              <a:solidFill>
                <a:srgbClr val="C00000"/>
              </a:solidFill>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4888" y="1423988"/>
            <a:ext cx="7134225" cy="401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066800" y="609600"/>
            <a:ext cx="7848600" cy="5909310"/>
          </a:xfrm>
          <a:prstGeom prst="rect">
            <a:avLst/>
          </a:prstGeom>
        </p:spPr>
        <p:txBody>
          <a:bodyPr wrap="square">
            <a:spAutoFit/>
          </a:bodyPr>
          <a:lstStyle/>
          <a:p>
            <a:pPr algn="just"/>
            <a:r>
              <a:rPr lang="en-US" dirty="0">
                <a:solidFill>
                  <a:schemeClr val="tx1"/>
                </a:solidFill>
              </a:rPr>
              <a:t>Transistor as a Amplifier Transistors are can be configured in three different ways depending on whether the common terminal b/w the input and output ports is base, collector or emitter and are named common base(CB), common collector(CC) and common emitter(CE), accordingly.  </a:t>
            </a:r>
            <a:endParaRPr lang="en-US" dirty="0" smtClean="0">
              <a:solidFill>
                <a:schemeClr val="tx1"/>
              </a:solidFill>
            </a:endParaRPr>
          </a:p>
          <a:p>
            <a:pPr algn="just"/>
            <a:endParaRPr lang="en-US" dirty="0">
              <a:solidFill>
                <a:schemeClr val="tx1"/>
              </a:solidFill>
            </a:endParaRPr>
          </a:p>
          <a:p>
            <a:pPr algn="just"/>
            <a:r>
              <a:rPr lang="en-US" dirty="0" smtClean="0">
                <a:solidFill>
                  <a:schemeClr val="tx1"/>
                </a:solidFill>
              </a:rPr>
              <a:t>These </a:t>
            </a:r>
            <a:r>
              <a:rPr lang="en-US" dirty="0">
                <a:solidFill>
                  <a:schemeClr val="tx1"/>
                </a:solidFill>
              </a:rPr>
              <a:t>can be used as switches or amplifiers based on the choice of OPERATING POINT AND REGION OF OPERATION .For switching the transistor circuits when made to operate between cut-off and saturation regions and for amplifiers  when made to operate in their active region. In addition, it is to be kept in mind that the transistors are inherently nothing but the current-controlled devices wherein a small change in the base current, IB results in a large variation in the collector current, IC </a:t>
            </a:r>
            <a:r>
              <a:rPr lang="en-US" dirty="0" smtClean="0">
                <a:solidFill>
                  <a:schemeClr val="tx1"/>
                </a:solidFill>
              </a:rPr>
              <a:t>such that  </a:t>
            </a:r>
            <a:r>
              <a:rPr lang="en-US" dirty="0">
                <a:solidFill>
                  <a:schemeClr val="tx1"/>
                </a:solidFill>
              </a:rPr>
              <a:t>(IE=IB+IC) </a:t>
            </a:r>
            <a:r>
              <a:rPr lang="en-US" dirty="0" smtClean="0">
                <a:solidFill>
                  <a:schemeClr val="tx1"/>
                </a:solidFill>
              </a:rPr>
              <a:t>.</a:t>
            </a:r>
            <a:endParaRPr lang="en-US" dirty="0" smtClean="0">
              <a:solidFill>
                <a:schemeClr val="tx1"/>
              </a:solidFill>
            </a:endParaRPr>
          </a:p>
          <a:p>
            <a:pPr algn="just"/>
            <a:r>
              <a:rPr lang="en-US" dirty="0" smtClean="0">
                <a:solidFill>
                  <a:schemeClr val="tx1"/>
                </a:solidFill>
              </a:rPr>
              <a:t> </a:t>
            </a:r>
            <a:r>
              <a:rPr lang="en-US" dirty="0">
                <a:solidFill>
                  <a:schemeClr val="tx1"/>
                </a:solidFill>
              </a:rPr>
              <a:t>Figure </a:t>
            </a:r>
            <a:r>
              <a:rPr lang="en-US" dirty="0" smtClean="0">
                <a:solidFill>
                  <a:schemeClr val="tx1"/>
                </a:solidFill>
              </a:rPr>
              <a:t> </a:t>
            </a:r>
            <a:r>
              <a:rPr lang="en-US" dirty="0">
                <a:solidFill>
                  <a:schemeClr val="tx1"/>
                </a:solidFill>
              </a:rPr>
              <a:t>shows a simple common emitter circuit which uses an </a:t>
            </a:r>
            <a:r>
              <a:rPr lang="en-US" dirty="0" err="1">
                <a:solidFill>
                  <a:schemeClr val="tx1"/>
                </a:solidFill>
              </a:rPr>
              <a:t>npn</a:t>
            </a:r>
            <a:r>
              <a:rPr lang="en-US" dirty="0">
                <a:solidFill>
                  <a:schemeClr val="tx1"/>
                </a:solidFill>
              </a:rPr>
              <a:t> transistor whose </a:t>
            </a:r>
            <a:endParaRPr lang="en-US" dirty="0" smtClean="0">
              <a:solidFill>
                <a:schemeClr val="tx1"/>
              </a:solidFill>
            </a:endParaRPr>
          </a:p>
          <a:p>
            <a:pPr algn="just"/>
            <a:r>
              <a:rPr lang="en-US" dirty="0" smtClean="0">
                <a:solidFill>
                  <a:schemeClr val="tx1"/>
                </a:solidFill>
              </a:rPr>
              <a:t> </a:t>
            </a:r>
            <a:r>
              <a:rPr lang="en-US" dirty="0">
                <a:solidFill>
                  <a:schemeClr val="tx1"/>
                </a:solidFill>
              </a:rPr>
              <a:t>Collector terminal (output terminal) is connected to supply voltage VCC through the collector resistor RC</a:t>
            </a:r>
            <a:r>
              <a:rPr lang="en-US" dirty="0" smtClean="0">
                <a:solidFill>
                  <a:schemeClr val="tx1"/>
                </a:solidFill>
              </a:rPr>
              <a:t>.</a:t>
            </a:r>
            <a:endParaRPr lang="en-US" dirty="0" smtClean="0">
              <a:solidFill>
                <a:schemeClr val="tx1"/>
              </a:solidFill>
            </a:endParaRPr>
          </a:p>
          <a:p>
            <a:pPr algn="just"/>
            <a:r>
              <a:rPr lang="en-US" dirty="0" smtClean="0">
                <a:solidFill>
                  <a:schemeClr val="tx1"/>
                </a:solidFill>
              </a:rPr>
              <a:t> </a:t>
            </a:r>
            <a:r>
              <a:rPr lang="en-US" dirty="0">
                <a:solidFill>
                  <a:schemeClr val="tx1"/>
                </a:solidFill>
              </a:rPr>
              <a:t> Base terminal is provided with the AC signal which needs to be amplified. </a:t>
            </a:r>
            <a:endParaRPr lang="en-US" dirty="0" smtClean="0">
              <a:solidFill>
                <a:schemeClr val="tx1"/>
              </a:solidFill>
            </a:endParaRPr>
          </a:p>
          <a:p>
            <a:pPr algn="just"/>
            <a:r>
              <a:rPr lang="en-US" dirty="0" smtClean="0">
                <a:solidFill>
                  <a:schemeClr val="tx1"/>
                </a:solidFill>
              </a:rPr>
              <a:t> </a:t>
            </a:r>
            <a:r>
              <a:rPr lang="en-US" dirty="0">
                <a:solidFill>
                  <a:schemeClr val="tx1"/>
                </a:solidFill>
              </a:rPr>
              <a:t>Emitter terminal is grounded (hence also referred to as Grounded Emitter configuration). </a:t>
            </a:r>
            <a:endParaRPr lang="en-US" dirty="0">
              <a:solidFill>
                <a:schemeClr val="tx1"/>
              </a:solidFill>
            </a:endParaRPr>
          </a:p>
        </p:txBody>
      </p:sp>
      <p:sp>
        <p:nvSpPr>
          <p:cNvPr id="3" name="TextBox 2"/>
          <p:cNvSpPr txBox="1"/>
          <p:nvPr/>
        </p:nvSpPr>
        <p:spPr>
          <a:xfrm>
            <a:off x="1676400" y="103189"/>
            <a:ext cx="5715000" cy="707886"/>
          </a:xfrm>
          <a:prstGeom prst="rect">
            <a:avLst/>
          </a:prstGeom>
          <a:noFill/>
        </p:spPr>
        <p:txBody>
          <a:bodyPr wrap="square" rtlCol="0">
            <a:spAutoFit/>
          </a:bodyPr>
          <a:lstStyle/>
          <a:p>
            <a:r>
              <a:rPr lang="en-US" sz="4000" b="1" dirty="0" smtClean="0">
                <a:solidFill>
                  <a:srgbClr val="C00000"/>
                </a:solidFill>
              </a:rPr>
              <a:t>Transistor as Amplifier</a:t>
            </a:r>
            <a:endParaRPr lang="en-US" sz="4000" b="1" dirty="0">
              <a:solidFill>
                <a:srgbClr val="C00000"/>
              </a:solidFill>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7428"/>
            <a:ext cx="3790950" cy="35528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19650" y="49144"/>
            <a:ext cx="4324350" cy="37337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98425" y="3733800"/>
            <a:ext cx="9045575" cy="1200329"/>
          </a:xfrm>
          <a:prstGeom prst="rect">
            <a:avLst/>
          </a:prstGeom>
        </p:spPr>
        <p:txBody>
          <a:bodyPr wrap="square">
            <a:spAutoFit/>
          </a:bodyPr>
          <a:lstStyle/>
          <a:p>
            <a:r>
              <a:rPr lang="en-US" dirty="0" smtClean="0">
                <a:solidFill>
                  <a:schemeClr val="tx1"/>
                </a:solidFill>
              </a:rPr>
              <a:t>For </a:t>
            </a:r>
            <a:r>
              <a:rPr lang="en-US" dirty="0">
                <a:solidFill>
                  <a:schemeClr val="tx1"/>
                </a:solidFill>
              </a:rPr>
              <a:t>1st half of input signal, as the input voltage Vi increases, the base current IB also increases which in turn increases the collector current IC. This causes an increase in the voltage drop across the collector resistor, RC which results in a decreased output voltage V0 as emphasized by the following relationship </a:t>
            </a:r>
            <a:endParaRPr lang="en-US" dirty="0">
              <a:solidFill>
                <a:schemeClr val="tx1"/>
              </a:solidFill>
            </a:endParaRPr>
          </a:p>
        </p:txBody>
      </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876800"/>
            <a:ext cx="2143125" cy="428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46304" y="5257800"/>
            <a:ext cx="8921496" cy="1200329"/>
          </a:xfrm>
          <a:prstGeom prst="rect">
            <a:avLst/>
          </a:prstGeom>
        </p:spPr>
        <p:txBody>
          <a:bodyPr wrap="square">
            <a:spAutoFit/>
          </a:bodyPr>
          <a:lstStyle/>
          <a:p>
            <a:pPr algn="just"/>
            <a:r>
              <a:rPr lang="en-US" dirty="0">
                <a:solidFill>
                  <a:schemeClr val="tx1"/>
                </a:solidFill>
              </a:rPr>
              <a:t> Thus  for the positive half-cycle of the input waveform, one would get amplified negative half-cycle while for the negative input signal, the output would be a amplified positive pulse. Hence there exists a phase-shift of 180o between the input and the output waveforms of the common emitter amplifier (also called as inverting amplifier). </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4400" y="1524000"/>
            <a:ext cx="4190999" cy="4057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04975"/>
            <a:ext cx="4569337" cy="3876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8305" y="1278836"/>
            <a:ext cx="8353425" cy="204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612" y="3856038"/>
            <a:ext cx="8296275" cy="2447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p:cNvSpPr/>
          <p:nvPr/>
        </p:nvSpPr>
        <p:spPr>
          <a:xfrm>
            <a:off x="3183494" y="126865"/>
            <a:ext cx="2026902" cy="707886"/>
          </a:xfrm>
          <a:prstGeom prst="rect">
            <a:avLst/>
          </a:prstGeom>
        </p:spPr>
        <p:txBody>
          <a:bodyPr wrap="none">
            <a:spAutoFit/>
          </a:bodyPr>
          <a:lstStyle/>
          <a:p>
            <a:r>
              <a:rPr lang="en-US" sz="4000" b="1" dirty="0" smtClean="0">
                <a:solidFill>
                  <a:srgbClr val="C00000"/>
                </a:solidFill>
              </a:rPr>
              <a:t>OPAMP</a:t>
            </a:r>
            <a:endParaRPr lang="en-US" sz="4000" dirty="0">
              <a:solidFill>
                <a:srgbClr val="C00000"/>
              </a:solidFill>
            </a:endParaRPr>
          </a:p>
        </p:txBody>
      </p:sp>
      <p:sp>
        <p:nvSpPr>
          <p:cNvPr id="2" name="TextBox 1"/>
          <p:cNvSpPr txBox="1"/>
          <p:nvPr/>
        </p:nvSpPr>
        <p:spPr>
          <a:xfrm>
            <a:off x="1745058" y="3473869"/>
            <a:ext cx="5971382" cy="369332"/>
          </a:xfrm>
          <a:prstGeom prst="rect">
            <a:avLst/>
          </a:prstGeom>
          <a:noFill/>
        </p:spPr>
        <p:txBody>
          <a:bodyPr wrap="square" rtlCol="0">
            <a:spAutoFit/>
          </a:bodyPr>
          <a:lstStyle/>
          <a:p>
            <a:r>
              <a:rPr lang="en-US" dirty="0" smtClean="0">
                <a:solidFill>
                  <a:schemeClr val="tx1"/>
                </a:solidFill>
              </a:rPr>
              <a:t>Pin configuration of Operational Amplifier (OPAMP)</a:t>
            </a:r>
            <a:endParaRPr lang="en-US" dirty="0">
              <a:solidFill>
                <a:schemeClr val="tx1"/>
              </a:solidFill>
            </a:endParaRPr>
          </a:p>
        </p:txBody>
      </p:sp>
      <p:sp>
        <p:nvSpPr>
          <p:cNvPr id="10" name="TextBox 9"/>
          <p:cNvSpPr txBox="1"/>
          <p:nvPr/>
        </p:nvSpPr>
        <p:spPr>
          <a:xfrm>
            <a:off x="1371600" y="1094170"/>
            <a:ext cx="5257800" cy="369332"/>
          </a:xfrm>
          <a:prstGeom prst="rect">
            <a:avLst/>
          </a:prstGeom>
          <a:noFill/>
        </p:spPr>
        <p:txBody>
          <a:bodyPr wrap="square" rtlCol="0">
            <a:spAutoFit/>
          </a:bodyPr>
          <a:lstStyle/>
          <a:p>
            <a:r>
              <a:rPr lang="en-US" dirty="0" smtClean="0">
                <a:solidFill>
                  <a:schemeClr val="tx1"/>
                </a:solidFill>
              </a:rPr>
              <a:t>Block diagram of Operational Amplifier (OPAMP)</a:t>
            </a:r>
            <a:endParaRPr lang="en-US" dirty="0">
              <a:solidFill>
                <a:schemeClr val="tx1"/>
              </a:solidFill>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371598" y="155289"/>
            <a:ext cx="7603435" cy="646331"/>
          </a:xfrm>
          <a:prstGeom prst="rect">
            <a:avLst/>
          </a:prstGeom>
        </p:spPr>
        <p:txBody>
          <a:bodyPr wrap="square">
            <a:spAutoFit/>
          </a:bodyPr>
          <a:lstStyle/>
          <a:p>
            <a:r>
              <a:rPr lang="en-US" dirty="0">
                <a:solidFill>
                  <a:schemeClr val="tx1"/>
                </a:solidFill>
              </a:rPr>
              <a:t>An operational amplifier or op amp is a DC coupled voltage amplifier with a very high voltage gain</a:t>
            </a:r>
            <a:endParaRPr lang="en-US" dirty="0">
              <a:solidFill>
                <a:schemeClr val="tx1"/>
              </a:solidFill>
            </a:endParaRPr>
          </a:p>
        </p:txBody>
      </p:sp>
      <p:sp>
        <p:nvSpPr>
          <p:cNvPr id="3" name="Rectangle 2"/>
          <p:cNvSpPr/>
          <p:nvPr/>
        </p:nvSpPr>
        <p:spPr>
          <a:xfrm>
            <a:off x="1066799" y="1003518"/>
            <a:ext cx="8004313" cy="1815882"/>
          </a:xfrm>
          <a:prstGeom prst="rect">
            <a:avLst/>
          </a:prstGeom>
        </p:spPr>
        <p:txBody>
          <a:bodyPr wrap="square">
            <a:spAutoFit/>
          </a:bodyPr>
          <a:lstStyle/>
          <a:p>
            <a:pPr algn="just"/>
            <a:r>
              <a:rPr lang="en-US" sz="1600" dirty="0">
                <a:solidFill>
                  <a:schemeClr val="tx1"/>
                </a:solidFill>
              </a:rPr>
              <a:t>Op amp is basically a multistage amplifier in which a number of amplifier stages are interconnected to each other in a very complicated manner. Its internal circuit consists of many transistors, FETs and resistors. All this occupies a very little space. So, it is packed in a small package and is available in the Integrated Circuit (IC) form. The term Op Amp is used to denote an amplifier which can be configured to perform various operations like amplification, subtraction, differentiation, addition, integration etc. An example is the very popular IC 741.</a:t>
            </a:r>
            <a:endParaRPr lang="en-US" sz="1600" dirty="0">
              <a:solidFill>
                <a:schemeClr val="tx1"/>
              </a:solidFill>
            </a:endParaRPr>
          </a:p>
        </p:txBody>
      </p:sp>
      <p:sp>
        <p:nvSpPr>
          <p:cNvPr id="4" name="Rectangle 3"/>
          <p:cNvSpPr/>
          <p:nvPr/>
        </p:nvSpPr>
        <p:spPr>
          <a:xfrm>
            <a:off x="1066799" y="3107591"/>
            <a:ext cx="7908235" cy="3293209"/>
          </a:xfrm>
          <a:prstGeom prst="rect">
            <a:avLst/>
          </a:prstGeom>
        </p:spPr>
        <p:txBody>
          <a:bodyPr wrap="square">
            <a:spAutoFit/>
          </a:bodyPr>
          <a:lstStyle/>
          <a:p>
            <a:pPr algn="just"/>
            <a:r>
              <a:rPr lang="en-US" sz="1600" dirty="0">
                <a:solidFill>
                  <a:schemeClr val="tx1"/>
                </a:solidFill>
              </a:rPr>
              <a:t>An operational amplifier, or op-amp, is a very high gain differential amplifier with high input impedance and low output impedance. Typical uses of the operational amplifier are to provide voltage amplitude changes (amplitude and polarity), oscillators</a:t>
            </a:r>
            <a:r>
              <a:rPr lang="en-US" sz="1600" dirty="0" smtClean="0">
                <a:solidFill>
                  <a:schemeClr val="tx1"/>
                </a:solidFill>
              </a:rPr>
              <a:t>, filter </a:t>
            </a:r>
            <a:r>
              <a:rPr lang="en-US" sz="1600" dirty="0">
                <a:solidFill>
                  <a:schemeClr val="tx1"/>
                </a:solidFill>
              </a:rPr>
              <a:t>circuits, and many types of instrumentation circuits. An op-amp contains a number of differential amplifier stages to achieve a very high voltage gain. Figure given below shows a basic op-amp with two inputs and one output as would result using a differential amplifier input stage. We call the terminal, marked with negative (-) sign as the inverting terminal and the terminal marked with positive (+) sign as the non-inverting terminal of the operational amplifier. If we apply an input signal at the inverting terminal (-) than the amplified output signal is 180o out of phase concerning the applied input signal. If we apply an input signal to the </a:t>
            </a:r>
            <a:r>
              <a:rPr lang="en-US" sz="1600" dirty="0" smtClean="0">
                <a:solidFill>
                  <a:schemeClr val="tx1"/>
                </a:solidFill>
              </a:rPr>
              <a:t>non inverting </a:t>
            </a:r>
            <a:r>
              <a:rPr lang="en-US" sz="1600" dirty="0">
                <a:solidFill>
                  <a:schemeClr val="tx1"/>
                </a:solidFill>
              </a:rPr>
              <a:t>terminal (+) then the output signal obtained will be in phase, </a:t>
            </a:r>
            <a:r>
              <a:rPr lang="en-US" sz="1600" dirty="0" err="1">
                <a:solidFill>
                  <a:schemeClr val="tx1"/>
                </a:solidFill>
              </a:rPr>
              <a:t>i.e</a:t>
            </a:r>
            <a:r>
              <a:rPr lang="en-US" sz="1600" dirty="0">
                <a:solidFill>
                  <a:schemeClr val="tx1"/>
                </a:solidFill>
              </a:rPr>
              <a:t> It will have no phase shift with respect to input signal. The op-amp also has two voltage supply terminals</a:t>
            </a:r>
            <a:endParaRPr lang="en-US" sz="1600" dirty="0">
              <a:solidFill>
                <a:schemeClr val="tx1"/>
              </a:solidFill>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graphicFrame>
        <p:nvGraphicFramePr>
          <p:cNvPr id="2" name="Table 1"/>
          <p:cNvGraphicFramePr>
            <a:graphicFrameLocks noGrp="1"/>
          </p:cNvGraphicFramePr>
          <p:nvPr/>
        </p:nvGraphicFramePr>
        <p:xfrm>
          <a:off x="1066800" y="1219200"/>
          <a:ext cx="7685088" cy="4114800"/>
        </p:xfrm>
        <a:graphic>
          <a:graphicData uri="http://schemas.openxmlformats.org/drawingml/2006/table">
            <a:tbl>
              <a:tblPr/>
              <a:tblGrid>
                <a:gridCol w="2561696"/>
                <a:gridCol w="2561696"/>
                <a:gridCol w="2561696"/>
              </a:tblGrid>
              <a:tr h="0">
                <a:tc>
                  <a:txBody>
                    <a:bodyPr/>
                    <a:lstStyle/>
                    <a:p>
                      <a:r>
                        <a:rPr lang="en-US" sz="2400" b="1" dirty="0">
                          <a:effectLst/>
                        </a:rPr>
                        <a:t>Characteristics</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b="1" dirty="0">
                          <a:effectLst/>
                        </a:rPr>
                        <a:t>Ideal</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b="1">
                          <a:effectLst/>
                        </a:rPr>
                        <a:t>Practical</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dirty="0">
                          <a:effectLst/>
                        </a:rPr>
                        <a:t>CMRR</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Infinite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120 dB</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dirty="0">
                          <a:effectLst/>
                        </a:rPr>
                        <a:t>Slew Rate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a:effectLst/>
                        </a:rPr>
                        <a:t>Infinite</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80 V/</a:t>
                      </a:r>
                      <a:r>
                        <a:rPr lang="en-US" sz="2400" dirty="0" err="1">
                          <a:effectLst/>
                        </a:rPr>
                        <a:t>ms</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dirty="0">
                          <a:effectLst/>
                        </a:rPr>
                        <a:t>Input Resistance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Infinite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 10</a:t>
                      </a:r>
                      <a:r>
                        <a:rPr lang="en-US" sz="2400" baseline="30000" dirty="0">
                          <a:effectLst/>
                        </a:rPr>
                        <a:t>6</a:t>
                      </a:r>
                      <a:r>
                        <a:rPr lang="en-US" sz="2400" dirty="0">
                          <a:effectLst/>
                        </a:rPr>
                        <a:t> W</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a:effectLst/>
                        </a:rPr>
                        <a:t>Output Resistance</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Zero</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100 W</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a:effectLst/>
                        </a:rPr>
                        <a:t>Gain</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Infinite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 10</a:t>
                      </a:r>
                      <a:r>
                        <a:rPr lang="en-US" sz="2400" baseline="30000" dirty="0">
                          <a:effectLst/>
                        </a:rPr>
                        <a:t>6</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a:effectLst/>
                        </a:rPr>
                        <a:t>Bandwidth</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Infinite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 10</a:t>
                      </a:r>
                      <a:r>
                        <a:rPr lang="en-US" sz="2400" baseline="30000" dirty="0">
                          <a:effectLst/>
                        </a:rPr>
                        <a:t>6 </a:t>
                      </a:r>
                      <a:r>
                        <a:rPr lang="en-US" sz="2400" dirty="0">
                          <a:effectLst/>
                        </a:rPr>
                        <a:t>Hz</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a:effectLst/>
                        </a:rPr>
                        <a:t>Offset Voltage</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a:effectLst/>
                        </a:rPr>
                        <a:t>Zero</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 Negligible</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r h="0">
                <a:tc>
                  <a:txBody>
                    <a:bodyPr/>
                    <a:lstStyle/>
                    <a:p>
                      <a:r>
                        <a:rPr lang="en-US" sz="2400">
                          <a:effectLst/>
                        </a:rPr>
                        <a:t>Offset Current</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a:effectLst/>
                        </a:rPr>
                        <a:t>Zero</a:t>
                      </a:r>
                      <a:endParaRPr lang="en-US" sz="240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c>
                  <a:txBody>
                    <a:bodyPr/>
                    <a:lstStyle/>
                    <a:p>
                      <a:pPr algn="ctr"/>
                      <a:r>
                        <a:rPr lang="en-US" sz="2400" dirty="0">
                          <a:effectLst/>
                        </a:rPr>
                        <a:t> Approx. In </a:t>
                      </a:r>
                      <a:r>
                        <a:rPr lang="en-US" sz="2400" dirty="0" err="1">
                          <a:effectLst/>
                        </a:rPr>
                        <a:t>nA</a:t>
                      </a:r>
                      <a:endParaRPr lang="en-US" sz="2400" dirty="0">
                        <a:effectLst/>
                      </a:endParaRPr>
                    </a:p>
                  </a:txBody>
                  <a:tcPr anchor="ctr">
                    <a:lnL w="9525" cap="flat" cmpd="sng" algn="ctr">
                      <a:solidFill>
                        <a:srgbClr val="509D86"/>
                      </a:solidFill>
                      <a:prstDash val="solid"/>
                      <a:round/>
                      <a:headEnd type="none" w="med" len="med"/>
                      <a:tailEnd type="none" w="med" len="med"/>
                    </a:lnL>
                    <a:lnR w="9525" cap="flat" cmpd="sng" algn="ctr">
                      <a:solidFill>
                        <a:srgbClr val="509D86"/>
                      </a:solidFill>
                      <a:prstDash val="solid"/>
                      <a:round/>
                      <a:headEnd type="none" w="med" len="med"/>
                      <a:tailEnd type="none" w="med" len="med"/>
                    </a:lnR>
                    <a:lnT w="9525" cap="flat" cmpd="sng" algn="ctr">
                      <a:solidFill>
                        <a:srgbClr val="509D86"/>
                      </a:solidFill>
                      <a:prstDash val="solid"/>
                      <a:round/>
                      <a:headEnd type="none" w="med" len="med"/>
                      <a:tailEnd type="none" w="med" len="med"/>
                    </a:lnT>
                    <a:lnB w="9525" cap="flat" cmpd="sng" algn="ctr">
                      <a:solidFill>
                        <a:srgbClr val="509D86"/>
                      </a:solidFill>
                      <a:prstDash val="solid"/>
                      <a:round/>
                      <a:headEnd type="none" w="med" len="med"/>
                      <a:tailEnd type="none" w="med" len="med"/>
                    </a:lnB>
                  </a:tcPr>
                </a:tc>
              </a:tr>
            </a:tbl>
          </a:graphicData>
        </a:graphic>
      </p:graphicFrame>
      <p:sp>
        <p:nvSpPr>
          <p:cNvPr id="3" name="Rectangle 1"/>
          <p:cNvSpPr>
            <a:spLocks noChangeArrowheads="1"/>
          </p:cNvSpPr>
          <p:nvPr/>
        </p:nvSpPr>
        <p:spPr bwMode="auto">
          <a:xfrm>
            <a:off x="1371600" y="285588"/>
            <a:ext cx="7086600" cy="82741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179331" numCol="1" anchor="ctr" anchorCtr="0" compatLnSpc="1">
            <a:spAutoFit/>
          </a:bodyPr>
          <a:lstStyle/>
          <a:p>
            <a:pPr marL="0" marR="0" lvl="0" indent="0" algn="l" defTabSz="914400" rtl="0" eaLnBrk="1" fontAlgn="base" latinLnBrk="0" hangingPunct="1">
              <a:lnSpc>
                <a:spcPct val="100000"/>
              </a:lnSpc>
              <a:spcBef>
                <a:spcPct val="0"/>
              </a:spcBef>
              <a:spcAft>
                <a:spcPct val="0"/>
              </a:spcAft>
              <a:buClrTx/>
              <a:buSzTx/>
              <a:buFontTx/>
              <a:buNone/>
            </a:pPr>
            <a:r>
              <a:rPr kumimoji="0" lang="en-US" sz="2400" b="1" i="0" u="none" strike="noStrike" cap="none" normalizeH="0" baseline="0" dirty="0" smtClean="0">
                <a:ln>
                  <a:noFill/>
                </a:ln>
                <a:solidFill>
                  <a:srgbClr val="C00000"/>
                </a:solidFill>
                <a:effectLst/>
                <a:latin typeface="Arial Black" panose="020B0A04020102020204" pitchFamily="34" charset="0"/>
                <a:cs typeface="Segoe UI" panose="020B0502040204020203" pitchFamily="34" charset="0"/>
              </a:rPr>
              <a:t>CHARACTERISTICS OF AN OP-AMP</a:t>
            </a:r>
            <a:endParaRPr kumimoji="0" lang="en-US" sz="2400" b="0" i="0" u="none" strike="noStrike" cap="none" normalizeH="0" baseline="0" dirty="0" smtClean="0">
              <a:ln>
                <a:noFill/>
              </a:ln>
              <a:solidFill>
                <a:srgbClr val="C00000"/>
              </a:solidFill>
              <a:effectLst/>
              <a:latin typeface="Arial Black" panose="020B0A04020102020204" pitchFamily="34" charset="0"/>
              <a:cs typeface="Segoe UI" panose="020B0502040204020203"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066800" y="81677"/>
            <a:ext cx="7772400" cy="2739211"/>
          </a:xfrm>
          <a:prstGeom prst="rect">
            <a:avLst/>
          </a:prstGeom>
        </p:spPr>
        <p:txBody>
          <a:bodyPr wrap="square">
            <a:spAutoFit/>
          </a:bodyPr>
          <a:lstStyle/>
          <a:p>
            <a:r>
              <a:rPr lang="en-US" sz="2800" b="1" dirty="0">
                <a:solidFill>
                  <a:srgbClr val="C00000"/>
                </a:solidFill>
              </a:rPr>
              <a:t>What is Virtual Ground ?</a:t>
            </a:r>
            <a:endParaRPr lang="en-US" sz="2800" b="1" dirty="0">
              <a:solidFill>
                <a:srgbClr val="C00000"/>
              </a:solidFill>
            </a:endParaRPr>
          </a:p>
          <a:p>
            <a:r>
              <a:rPr lang="en-US" dirty="0">
                <a:solidFill>
                  <a:schemeClr val="tx1"/>
                </a:solidFill>
              </a:rPr>
              <a:t>As the name indicates it is virtual, not real ground. For some purposes we can consider it as equivalent to ground. In opamps </a:t>
            </a:r>
            <a:r>
              <a:rPr lang="en-US" b="1" dirty="0">
                <a:solidFill>
                  <a:schemeClr val="tx1"/>
                </a:solidFill>
              </a:rPr>
              <a:t>the term virtual ground means that the voltage at that particular node is almost equal to ground voltage</a:t>
            </a:r>
            <a:r>
              <a:rPr lang="en-US" dirty="0">
                <a:solidFill>
                  <a:schemeClr val="tx1"/>
                </a:solidFill>
              </a:rPr>
              <a:t> (0V). It is </a:t>
            </a:r>
            <a:r>
              <a:rPr lang="en-US" b="1" dirty="0">
                <a:solidFill>
                  <a:schemeClr val="tx1"/>
                </a:solidFill>
              </a:rPr>
              <a:t>not</a:t>
            </a:r>
            <a:r>
              <a:rPr lang="en-US" dirty="0">
                <a:solidFill>
                  <a:schemeClr val="tx1"/>
                </a:solidFill>
              </a:rPr>
              <a:t> physically connected to ground. This concept is very useful in analysis of opamp circuits and it will make a lot of calculations very simple.</a:t>
            </a:r>
            <a:endParaRPr lang="en-US" dirty="0">
              <a:solidFill>
                <a:schemeClr val="tx1"/>
              </a:solidFill>
            </a:endParaRPr>
          </a:p>
          <a:p>
            <a:r>
              <a:rPr lang="en-US" b="1" dirty="0">
                <a:solidFill>
                  <a:schemeClr val="tx1"/>
                </a:solidFill>
              </a:rPr>
              <a:t>Virtual Ground – </a:t>
            </a:r>
            <a:endParaRPr lang="en-US" b="1" dirty="0" smtClean="0">
              <a:solidFill>
                <a:schemeClr val="tx1"/>
              </a:solidFill>
            </a:endParaRPr>
          </a:p>
          <a:p>
            <a:r>
              <a:rPr lang="en-US" dirty="0" smtClean="0">
                <a:solidFill>
                  <a:schemeClr val="tx1"/>
                </a:solidFill>
              </a:rPr>
              <a:t>Lets </a:t>
            </a:r>
            <a:r>
              <a:rPr lang="en-US" dirty="0">
                <a:solidFill>
                  <a:schemeClr val="tx1"/>
                </a:solidFill>
              </a:rPr>
              <a:t>see how the virtual ground concept is employed in inverting amplier.</a:t>
            </a:r>
            <a:endParaRPr lang="en-US" dirty="0">
              <a:solidFill>
                <a:schemeClr val="tx1"/>
              </a:solidFill>
            </a:endParaRPr>
          </a:p>
        </p:txBody>
      </p:sp>
      <p:pic>
        <p:nvPicPr>
          <p:cNvPr id="5122" name="Picture 2" descr="https://electrosome.com/wp-content/uploads/2016/12/Virtual-Ground-Inverting-Amplifier-Opamp.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4" y="2895600"/>
            <a:ext cx="5416295" cy="2790826"/>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p:cNvSpPr/>
          <p:nvPr/>
        </p:nvSpPr>
        <p:spPr>
          <a:xfrm>
            <a:off x="5562599" y="3136851"/>
            <a:ext cx="3306417" cy="2308324"/>
          </a:xfrm>
          <a:prstGeom prst="rect">
            <a:avLst/>
          </a:prstGeom>
        </p:spPr>
        <p:txBody>
          <a:bodyPr wrap="square">
            <a:spAutoFit/>
          </a:bodyPr>
          <a:lstStyle/>
          <a:p>
            <a:r>
              <a:rPr lang="en-US" b="1" dirty="0">
                <a:solidFill>
                  <a:schemeClr val="tx1"/>
                </a:solidFill>
              </a:rPr>
              <a:t>Gain = Vo/Vin</a:t>
            </a:r>
            <a:endParaRPr lang="en-US" dirty="0">
              <a:solidFill>
                <a:schemeClr val="tx1"/>
              </a:solidFill>
            </a:endParaRPr>
          </a:p>
          <a:p>
            <a:r>
              <a:rPr lang="en-US" dirty="0">
                <a:solidFill>
                  <a:schemeClr val="tx1"/>
                </a:solidFill>
              </a:rPr>
              <a:t>As gain is infinite, </a:t>
            </a:r>
            <a:r>
              <a:rPr lang="en-US" b="1" dirty="0">
                <a:solidFill>
                  <a:schemeClr val="tx1"/>
                </a:solidFill>
              </a:rPr>
              <a:t>Vin = 0</a:t>
            </a:r>
            <a:endParaRPr lang="en-US" dirty="0">
              <a:solidFill>
                <a:schemeClr val="tx1"/>
              </a:solidFill>
            </a:endParaRPr>
          </a:p>
          <a:p>
            <a:r>
              <a:rPr lang="en-US" dirty="0">
                <a:solidFill>
                  <a:schemeClr val="tx1"/>
                </a:solidFill>
              </a:rPr>
              <a:t>Vin = V2 – V1</a:t>
            </a:r>
            <a:endParaRPr lang="en-US" dirty="0">
              <a:solidFill>
                <a:schemeClr val="tx1"/>
              </a:solidFill>
            </a:endParaRPr>
          </a:p>
          <a:p>
            <a:r>
              <a:rPr lang="en-US" dirty="0">
                <a:solidFill>
                  <a:schemeClr val="tx1"/>
                </a:solidFill>
              </a:rPr>
              <a:t>In the above circuit V1 is connected to ground, so V1 = 0. Thus V2 also will be at ground potential.</a:t>
            </a:r>
            <a:endParaRPr lang="en-US" dirty="0">
              <a:solidFill>
                <a:schemeClr val="tx1"/>
              </a:solidFill>
            </a:endParaRPr>
          </a:p>
          <a:p>
            <a:r>
              <a:rPr lang="en-US" b="1" dirty="0">
                <a:solidFill>
                  <a:schemeClr val="tx1"/>
                </a:solidFill>
              </a:rPr>
              <a:t>V2 = 0</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295400" y="103189"/>
            <a:ext cx="7543800" cy="1200329"/>
          </a:xfrm>
          <a:prstGeom prst="rect">
            <a:avLst/>
          </a:prstGeom>
        </p:spPr>
        <p:txBody>
          <a:bodyPr wrap="square">
            <a:spAutoFit/>
          </a:bodyPr>
          <a:lstStyle/>
          <a:p>
            <a:r>
              <a:rPr lang="en-US" b="1" dirty="0">
                <a:solidFill>
                  <a:schemeClr val="tx1"/>
                </a:solidFill>
              </a:rPr>
              <a:t>Using Infinite Voltage Gain</a:t>
            </a:r>
            <a:endParaRPr lang="en-US" b="1" dirty="0">
              <a:solidFill>
                <a:schemeClr val="tx1"/>
              </a:solidFill>
            </a:endParaRPr>
          </a:p>
          <a:p>
            <a:r>
              <a:rPr lang="en-US" dirty="0">
                <a:solidFill>
                  <a:schemeClr val="tx1"/>
                </a:solidFill>
              </a:rPr>
              <a:t>We already know that an ideal opamp will provide infinite voltage gain. For real opamps also the gain will be very high such that we can consider it as infinite for calculation purposes.</a:t>
            </a:r>
            <a:endParaRPr lang="en-US" dirty="0">
              <a:solidFill>
                <a:schemeClr val="tx1"/>
              </a:solidFill>
            </a:endParaRPr>
          </a:p>
        </p:txBody>
      </p:sp>
      <p:pic>
        <p:nvPicPr>
          <p:cNvPr id="6146" name="Picture 2" descr="Equivalent Circuit - Inverting Amplifier - Virtual Ground - Opamp">
            <a:hlinkClick r:id="rId2"/>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3418" y="3124201"/>
            <a:ext cx="5283200" cy="2164676"/>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1447800" y="1600200"/>
            <a:ext cx="6934200" cy="1200329"/>
          </a:xfrm>
          <a:prstGeom prst="rect">
            <a:avLst/>
          </a:prstGeom>
        </p:spPr>
        <p:txBody>
          <a:bodyPr wrap="square">
            <a:spAutoFit/>
          </a:bodyPr>
          <a:lstStyle/>
          <a:p>
            <a:r>
              <a:rPr lang="en-US" b="1" dirty="0">
                <a:solidFill>
                  <a:schemeClr val="tx1"/>
                </a:solidFill>
              </a:rPr>
              <a:t>Why we need Virtual Ground ?</a:t>
            </a:r>
            <a:endParaRPr lang="en-US" b="1" dirty="0">
              <a:solidFill>
                <a:schemeClr val="tx1"/>
              </a:solidFill>
            </a:endParaRPr>
          </a:p>
          <a:p>
            <a:r>
              <a:rPr lang="en-US" dirty="0">
                <a:solidFill>
                  <a:schemeClr val="tx1"/>
                </a:solidFill>
              </a:rPr>
              <a:t>Virtual Ground concept is very useful in analysis of an opamp when negative feedback is employed. It will simply a lot of calculations and derivations.</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a:spLocks noChangeArrowheads="1"/>
          </p:cNvSpPr>
          <p:nvPr/>
        </p:nvSpPr>
        <p:spPr bwMode="auto">
          <a:xfrm>
            <a:off x="1219200" y="133967"/>
            <a:ext cx="7696200" cy="1877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3200" b="1" i="0" u="none" strike="noStrike" cap="none" normalizeH="0" baseline="0" dirty="0" smtClean="0">
                <a:ln>
                  <a:noFill/>
                </a:ln>
                <a:solidFill>
                  <a:srgbClr val="C00000"/>
                </a:solidFill>
                <a:effectLst/>
                <a:latin typeface="Heebo"/>
                <a:cs typeface="Arial" panose="020B0604020202020204" pitchFamily="34" charset="0"/>
              </a:rPr>
              <a:t>Inverting Amplifier</a:t>
            </a:r>
            <a:endParaRPr kumimoji="0" lang="en-US" sz="3200" b="1" i="0" u="none" strike="noStrike" cap="none" normalizeH="0" baseline="0" dirty="0" smtClean="0">
              <a:ln>
                <a:noFill/>
              </a:ln>
              <a:solidFill>
                <a:srgbClr val="C00000"/>
              </a:solidFill>
              <a:effectLst/>
              <a:latin typeface="Heebo"/>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rgbClr val="000000"/>
                </a:solidFill>
                <a:effectLst/>
                <a:latin typeface="Nunito"/>
                <a:cs typeface="Arial" panose="020B0604020202020204" pitchFamily="34" charset="0"/>
              </a:rPr>
              <a:t>An inverting amplifier takes the input through its inverting terminal through a resistor </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R</a:t>
            </a:r>
            <a:r>
              <a:rPr kumimoji="0" lang="en-US" b="0" i="0" u="none" strike="noStrike" cap="none" normalizeH="0" baseline="0" dirty="0" smtClean="0">
                <a:ln>
                  <a:noFill/>
                </a:ln>
                <a:solidFill>
                  <a:srgbClr val="000000"/>
                </a:solidFill>
                <a:effectLst/>
                <a:latin typeface="MathJax_Main"/>
                <a:cs typeface="Arial" panose="020B0604020202020204" pitchFamily="34" charset="0"/>
              </a:rPr>
              <a:t>1</a:t>
            </a:r>
            <a:r>
              <a:rPr kumimoji="0" lang="en-US" b="0" i="0" u="none" strike="noStrike" cap="none" normalizeH="0" baseline="0" dirty="0" smtClean="0">
                <a:ln>
                  <a:noFill/>
                </a:ln>
                <a:solidFill>
                  <a:srgbClr val="000000"/>
                </a:solidFill>
                <a:effectLst/>
                <a:latin typeface="Nunito"/>
                <a:cs typeface="Arial" panose="020B0604020202020204" pitchFamily="34" charset="0"/>
              </a:rPr>
              <a:t>, and produces its amplified version as the output. This amplifier not only amplifies the input but also inverts it (changes its sign).</a:t>
            </a:r>
            <a:endParaRPr kumimoji="0" lang="en-US" b="0" i="0" u="none" strike="noStrike" cap="none" normalizeH="0" baseline="0" dirty="0" smtClean="0">
              <a:ln>
                <a:noFill/>
              </a:ln>
              <a:solidFill>
                <a:schemeClr val="tx1"/>
              </a:solidFill>
              <a:effectLst/>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rgbClr val="000000"/>
                </a:solidFill>
                <a:effectLst/>
                <a:latin typeface="Nunito"/>
                <a:cs typeface="Arial" panose="020B0604020202020204" pitchFamily="34" charset="0"/>
              </a:rPr>
              <a:t>The </a:t>
            </a:r>
            <a:r>
              <a:rPr kumimoji="0" lang="en-US" b="1" i="0" u="none" strike="noStrike" cap="none" normalizeH="0" baseline="0" dirty="0" smtClean="0">
                <a:ln>
                  <a:noFill/>
                </a:ln>
                <a:solidFill>
                  <a:srgbClr val="000000"/>
                </a:solidFill>
                <a:effectLst/>
                <a:latin typeface="Nunito"/>
                <a:cs typeface="Arial" panose="020B0604020202020204" pitchFamily="34" charset="0"/>
              </a:rPr>
              <a:t>circuit diagram</a:t>
            </a:r>
            <a:r>
              <a:rPr kumimoji="0" lang="en-US" b="0" i="0" u="none" strike="noStrike" cap="none" normalizeH="0" baseline="0" dirty="0" smtClean="0">
                <a:ln>
                  <a:noFill/>
                </a:ln>
                <a:solidFill>
                  <a:srgbClr val="000000"/>
                </a:solidFill>
                <a:effectLst/>
                <a:latin typeface="Nunito"/>
                <a:cs typeface="Arial" panose="020B0604020202020204" pitchFamily="34" charset="0"/>
              </a:rPr>
              <a:t> of an inverting amplifier is shown in the following figure −</a:t>
            </a:r>
            <a:endParaRPr kumimoji="0" lang="en-US" b="0" i="0" u="none" strike="noStrike" cap="none" normalizeH="0" baseline="0" dirty="0" smtClean="0">
              <a:ln>
                <a:noFill/>
              </a:ln>
              <a:solidFill>
                <a:schemeClr val="tx1"/>
              </a:solidFill>
              <a:effectLst/>
              <a:cs typeface="Arial" panose="020B0604020202020204" pitchFamily="34" charset="0"/>
            </a:endParaRPr>
          </a:p>
        </p:txBody>
      </p:sp>
      <p:pic>
        <p:nvPicPr>
          <p:cNvPr id="717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349" y="1897055"/>
            <a:ext cx="4558851" cy="2943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4525617" y="1883803"/>
            <a:ext cx="4572000" cy="4524315"/>
          </a:xfrm>
          <a:prstGeom prst="rect">
            <a:avLst/>
          </a:prstGeom>
        </p:spPr>
        <p:txBody>
          <a:bodyPr>
            <a:spAutoFit/>
          </a:bodyPr>
          <a:lstStyle/>
          <a:p>
            <a:r>
              <a:rPr lang="en-US" dirty="0">
                <a:solidFill>
                  <a:schemeClr val="tx1"/>
                </a:solidFill>
              </a:rPr>
              <a:t>Note that for an op-amp, the voltage at the inverting input terminal is equal to the voltage at its non-inverting input terminal. Physically, there is no short between those two terminals but </a:t>
            </a:r>
            <a:r>
              <a:rPr lang="en-US" b="1" dirty="0">
                <a:solidFill>
                  <a:schemeClr val="tx1"/>
                </a:solidFill>
              </a:rPr>
              <a:t>virtually</a:t>
            </a:r>
            <a:r>
              <a:rPr lang="en-US" dirty="0">
                <a:solidFill>
                  <a:schemeClr val="tx1"/>
                </a:solidFill>
              </a:rPr>
              <a:t>, they are in </a:t>
            </a:r>
            <a:r>
              <a:rPr lang="en-US" b="1" dirty="0">
                <a:solidFill>
                  <a:schemeClr val="tx1"/>
                </a:solidFill>
              </a:rPr>
              <a:t>short</a:t>
            </a:r>
            <a:r>
              <a:rPr lang="en-US" dirty="0">
                <a:solidFill>
                  <a:schemeClr val="tx1"/>
                </a:solidFill>
              </a:rPr>
              <a:t> with each other.</a:t>
            </a:r>
            <a:endParaRPr lang="en-US" dirty="0">
              <a:solidFill>
                <a:schemeClr val="tx1"/>
              </a:solidFill>
            </a:endParaRPr>
          </a:p>
          <a:p>
            <a:r>
              <a:rPr lang="en-US" dirty="0">
                <a:solidFill>
                  <a:schemeClr val="tx1"/>
                </a:solidFill>
              </a:rPr>
              <a:t>In the circuit shown above, the non-inverting input terminal is connected to ground. That means zero volts is applied at the non-inverting input terminal of the op-amp.</a:t>
            </a:r>
            <a:endParaRPr lang="en-US" dirty="0">
              <a:solidFill>
                <a:schemeClr val="tx1"/>
              </a:solidFill>
            </a:endParaRPr>
          </a:p>
          <a:p>
            <a:r>
              <a:rPr lang="en-US" dirty="0">
                <a:solidFill>
                  <a:schemeClr val="tx1"/>
                </a:solidFill>
              </a:rPr>
              <a:t>According to the </a:t>
            </a:r>
            <a:r>
              <a:rPr lang="en-US" b="1" dirty="0">
                <a:solidFill>
                  <a:schemeClr val="tx1"/>
                </a:solidFill>
              </a:rPr>
              <a:t>virtual short concept</a:t>
            </a:r>
            <a:r>
              <a:rPr lang="en-US" dirty="0">
                <a:solidFill>
                  <a:schemeClr val="tx1"/>
                </a:solidFill>
              </a:rPr>
              <a:t>, the voltage at the inverting input terminal of an op-amp will be zero volts.</a:t>
            </a:r>
            <a:endParaRPr lang="en-US" dirty="0">
              <a:solidFill>
                <a:schemeClr val="tx1"/>
              </a:solidFill>
            </a:endParaRPr>
          </a:p>
          <a:p>
            <a:r>
              <a:rPr lang="en-US" dirty="0">
                <a:solidFill>
                  <a:schemeClr val="tx1"/>
                </a:solidFill>
              </a:rPr>
              <a:t>The </a:t>
            </a:r>
            <a:r>
              <a:rPr lang="en-US" b="1" dirty="0">
                <a:solidFill>
                  <a:schemeClr val="tx1"/>
                </a:solidFill>
              </a:rPr>
              <a:t>nodal equation</a:t>
            </a:r>
            <a:r>
              <a:rPr lang="en-US" dirty="0">
                <a:solidFill>
                  <a:schemeClr val="tx1"/>
                </a:solidFill>
              </a:rPr>
              <a:t> at this terminal's node is as shown below </a:t>
            </a:r>
            <a:r>
              <a:rPr lang="en-US" dirty="0"/>
              <a:t>−</a:t>
            </a: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81000"/>
            <a:ext cx="5943600" cy="502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930226" y="5410200"/>
            <a:ext cx="6985173" cy="923330"/>
          </a:xfrm>
          <a:prstGeom prst="rect">
            <a:avLst/>
          </a:prstGeom>
        </p:spPr>
        <p:txBody>
          <a:bodyPr wrap="square">
            <a:spAutoFit/>
          </a:bodyPr>
          <a:lstStyle/>
          <a:p>
            <a:r>
              <a:rPr lang="en-US" dirty="0">
                <a:solidFill>
                  <a:schemeClr val="tx1"/>
                </a:solidFill>
              </a:rPr>
              <a:t>Note that the gain of the inverting amplifier is having a </a:t>
            </a:r>
            <a:r>
              <a:rPr lang="en-US" b="1" dirty="0">
                <a:solidFill>
                  <a:schemeClr val="tx1"/>
                </a:solidFill>
              </a:rPr>
              <a:t>negative sign</a:t>
            </a:r>
            <a:r>
              <a:rPr lang="en-US" dirty="0">
                <a:solidFill>
                  <a:schemeClr val="tx1"/>
                </a:solidFill>
              </a:rPr>
              <a:t>. It indicates that there exists a 180</a:t>
            </a:r>
            <a:r>
              <a:rPr lang="en-US" baseline="30000" dirty="0">
                <a:solidFill>
                  <a:schemeClr val="tx1"/>
                </a:solidFill>
              </a:rPr>
              <a:t>0</a:t>
            </a:r>
            <a:r>
              <a:rPr lang="en-US" dirty="0">
                <a:solidFill>
                  <a:schemeClr val="tx1"/>
                </a:solidFill>
              </a:rPr>
              <a:t> phase difference between the input and the output.</a:t>
            </a:r>
            <a:endParaRPr lang="en-US" dirty="0">
              <a:solidFill>
                <a:schemeClr val="tx1"/>
              </a:solidFill>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600200" y="304800"/>
            <a:ext cx="4572000" cy="2585323"/>
          </a:xfrm>
          <a:prstGeom prst="rect">
            <a:avLst/>
          </a:prstGeom>
        </p:spPr>
        <p:txBody>
          <a:bodyPr>
            <a:spAutoFit/>
          </a:bodyPr>
          <a:lstStyle/>
          <a:p>
            <a:r>
              <a:rPr lang="en-US" dirty="0">
                <a:solidFill>
                  <a:schemeClr val="tx1"/>
                </a:solidFill>
              </a:rPr>
              <a:t>Non-Inverting Amplifier</a:t>
            </a:r>
            <a:endParaRPr lang="en-US" dirty="0">
              <a:solidFill>
                <a:schemeClr val="tx1"/>
              </a:solidFill>
            </a:endParaRPr>
          </a:p>
          <a:p>
            <a:r>
              <a:rPr lang="en-US" dirty="0">
                <a:solidFill>
                  <a:schemeClr val="tx1"/>
                </a:solidFill>
              </a:rPr>
              <a:t>A non-inverting amplifier takes the input through its non-inverting terminal, and produces its amplified version as the output. As the name suggests, this amplifier just amplifies the input, without inverting or changing the sign of the output.</a:t>
            </a:r>
            <a:endParaRPr lang="en-US" dirty="0">
              <a:solidFill>
                <a:schemeClr val="tx1"/>
              </a:solidFill>
            </a:endParaRPr>
          </a:p>
          <a:p>
            <a:r>
              <a:rPr lang="en-US" dirty="0">
                <a:solidFill>
                  <a:schemeClr val="tx1"/>
                </a:solidFill>
              </a:rPr>
              <a:t>The </a:t>
            </a:r>
            <a:r>
              <a:rPr lang="en-US" b="1" dirty="0">
                <a:solidFill>
                  <a:schemeClr val="tx1"/>
                </a:solidFill>
              </a:rPr>
              <a:t>circuit diagram</a:t>
            </a:r>
            <a:r>
              <a:rPr lang="en-US" dirty="0">
                <a:solidFill>
                  <a:schemeClr val="tx1"/>
                </a:solidFill>
              </a:rPr>
              <a:t> of a non-inverting amplifier is shown in the following figure −</a:t>
            </a:r>
            <a:endParaRPr lang="en-US" dirty="0">
              <a:solidFill>
                <a:schemeClr val="tx1"/>
              </a:solidFill>
            </a:endParaRPr>
          </a:p>
        </p:txBody>
      </p:sp>
      <p:pic>
        <p:nvPicPr>
          <p:cNvPr id="921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0535" y="2890123"/>
            <a:ext cx="3538065" cy="27486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3"/>
          <p:cNvSpPr>
            <a:spLocks noChangeArrowheads="1"/>
          </p:cNvSpPr>
          <p:nvPr/>
        </p:nvSpPr>
        <p:spPr bwMode="auto">
          <a:xfrm>
            <a:off x="6306118" y="1659761"/>
            <a:ext cx="1907382"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1200" b="0" i="0" u="none" strike="noStrike" cap="none" normalizeH="0" baseline="0" dirty="0" smtClean="0">
                <a:ln>
                  <a:noFill/>
                </a:ln>
                <a:solidFill>
                  <a:srgbClr val="000000"/>
                </a:solidFill>
                <a:effectLst/>
                <a:latin typeface="Nunito"/>
                <a:cs typeface="Arial" panose="020B0604020202020204" pitchFamily="34" charset="0"/>
              </a:rPr>
              <a:t>In the above circuit, the input voltage </a:t>
            </a:r>
            <a:r>
              <a:rPr kumimoji="0" lang="en-US" sz="12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900" b="0" i="0" u="none" strike="noStrike" cap="none" normalizeH="0" baseline="0" dirty="0" smtClean="0">
                <a:ln>
                  <a:noFill/>
                </a:ln>
                <a:solidFill>
                  <a:srgbClr val="000000"/>
                </a:solidFill>
                <a:effectLst/>
                <a:latin typeface="MathJax_Math-italic"/>
                <a:cs typeface="Arial" panose="020B0604020202020204" pitchFamily="34" charset="0"/>
              </a:rPr>
              <a:t>i</a:t>
            </a:r>
            <a:r>
              <a:rPr kumimoji="0" lang="en-US" sz="1200" b="0" i="0" u="none" strike="noStrike" cap="none" normalizeH="0" baseline="0" dirty="0" smtClean="0">
                <a:ln>
                  <a:noFill/>
                </a:ln>
                <a:solidFill>
                  <a:srgbClr val="000000"/>
                </a:solidFill>
                <a:effectLst/>
                <a:latin typeface="Nunito"/>
                <a:cs typeface="Arial" panose="020B0604020202020204" pitchFamily="34" charset="0"/>
              </a:rPr>
              <a:t>�� is directly applied to the non-inverting input terminal of op-amp. So, the voltage at the non-inverting input terminal of the op-amp will be </a:t>
            </a:r>
            <a:r>
              <a:rPr kumimoji="0" lang="en-US" sz="12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900" b="0" i="0" u="none" strike="noStrike" cap="none" normalizeH="0" baseline="0" dirty="0" smtClean="0">
                <a:ln>
                  <a:noFill/>
                </a:ln>
                <a:solidFill>
                  <a:srgbClr val="000000"/>
                </a:solidFill>
                <a:effectLst/>
                <a:latin typeface="MathJax_Math-italic"/>
                <a:cs typeface="Arial" panose="020B0604020202020204" pitchFamily="34" charset="0"/>
              </a:rPr>
              <a:t>i</a:t>
            </a:r>
            <a:r>
              <a:rPr kumimoji="0" lang="en-US" sz="1200" b="0" i="0" u="none" strike="noStrike" cap="none" normalizeH="0" baseline="0" dirty="0" smtClean="0">
                <a:ln>
                  <a:noFill/>
                </a:ln>
                <a:solidFill>
                  <a:srgbClr val="000000"/>
                </a:solidFill>
                <a:effectLst/>
                <a:latin typeface="Nunito"/>
                <a:cs typeface="Arial" panose="020B0604020202020204" pitchFamily="34" charset="0"/>
              </a:rPr>
              <a:t>��.</a:t>
            </a:r>
            <a:endParaRPr kumimoji="0" lang="en-US" sz="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1200" b="0" i="0" u="none" strike="noStrike" cap="none" normalizeH="0" baseline="0" dirty="0" smtClean="0">
                <a:ln>
                  <a:noFill/>
                </a:ln>
                <a:solidFill>
                  <a:srgbClr val="000000"/>
                </a:solidFill>
                <a:effectLst/>
                <a:latin typeface="Nunito"/>
                <a:cs typeface="Arial" panose="020B0604020202020204" pitchFamily="34" charset="0"/>
              </a:rPr>
              <a:t>By using </a:t>
            </a:r>
            <a:r>
              <a:rPr kumimoji="0" lang="en-US" sz="1200" b="1" i="0" u="none" strike="noStrike" cap="none" normalizeH="0" baseline="0" dirty="0" smtClean="0">
                <a:ln>
                  <a:noFill/>
                </a:ln>
                <a:solidFill>
                  <a:srgbClr val="000000"/>
                </a:solidFill>
                <a:effectLst/>
                <a:latin typeface="Nunito"/>
                <a:cs typeface="Arial" panose="020B0604020202020204" pitchFamily="34" charset="0"/>
              </a:rPr>
              <a:t>voltage division principle</a:t>
            </a:r>
            <a:r>
              <a:rPr kumimoji="0" lang="en-US" sz="1200" b="0" i="0" u="none" strike="noStrike" cap="none" normalizeH="0" baseline="0" dirty="0" smtClean="0">
                <a:ln>
                  <a:noFill/>
                </a:ln>
                <a:solidFill>
                  <a:srgbClr val="000000"/>
                </a:solidFill>
                <a:effectLst/>
                <a:latin typeface="Nunito"/>
                <a:cs typeface="Arial" panose="020B0604020202020204" pitchFamily="34" charset="0"/>
              </a:rPr>
              <a:t>, we can calculate the voltage at the inverting input terminal of the op-amp as shown below −</a:t>
            </a: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4600" y="180182"/>
            <a:ext cx="229552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217738"/>
            <a:ext cx="2257425" cy="431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143000" y="1218407"/>
            <a:ext cx="7696200" cy="923330"/>
          </a:xfrm>
          <a:prstGeom prst="rect">
            <a:avLst/>
          </a:prstGeom>
        </p:spPr>
        <p:txBody>
          <a:bodyPr wrap="square">
            <a:spAutoFit/>
          </a:bodyPr>
          <a:lstStyle/>
          <a:p>
            <a:r>
              <a:rPr lang="en-US" dirty="0">
                <a:solidFill>
                  <a:schemeClr val="tx1"/>
                </a:solidFill>
              </a:rPr>
              <a:t>According to the </a:t>
            </a:r>
            <a:r>
              <a:rPr lang="en-US" b="1" dirty="0">
                <a:solidFill>
                  <a:schemeClr val="tx1"/>
                </a:solidFill>
              </a:rPr>
              <a:t>virtual short concept</a:t>
            </a:r>
            <a:r>
              <a:rPr lang="en-US" dirty="0">
                <a:solidFill>
                  <a:schemeClr val="tx1"/>
                </a:solidFill>
              </a:rPr>
              <a:t>, the voltage at the inverting input terminal of an op-amp is same as that of the voltage at its non-inverting input terminal</a:t>
            </a:r>
            <a:r>
              <a:rPr lang="en-US" dirty="0"/>
              <a:t>.</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a:spLocks noChangeArrowheads="1"/>
          </p:cNvSpPr>
          <p:nvPr/>
        </p:nvSpPr>
        <p:spPr bwMode="auto">
          <a:xfrm>
            <a:off x="1066800" y="488723"/>
            <a:ext cx="7924800" cy="50475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800" b="0" i="0" u="none" strike="noStrike" cap="none" normalizeH="0" baseline="0" dirty="0" smtClean="0">
                <a:ln>
                  <a:noFill/>
                </a:ln>
                <a:solidFill>
                  <a:srgbClr val="000000"/>
                </a:solidFill>
                <a:effectLst/>
                <a:latin typeface="Nunito"/>
                <a:cs typeface="Arial" panose="020B0604020202020204" pitchFamily="34" charset="0"/>
              </a:rPr>
              <a:t>Now, the ratio of output voltage </a:t>
            </a:r>
            <a:r>
              <a:rPr kumimoji="0" lang="en-US" sz="28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600" b="0" i="0" u="none" strike="noStrike" cap="none" normalizeH="0" baseline="0" dirty="0" smtClean="0">
                <a:ln>
                  <a:noFill/>
                </a:ln>
                <a:solidFill>
                  <a:srgbClr val="000000"/>
                </a:solidFill>
                <a:effectLst/>
                <a:latin typeface="MathJax_Main"/>
                <a:cs typeface="Arial" panose="020B0604020202020204" pitchFamily="34" charset="0"/>
              </a:rPr>
              <a:t>0</a:t>
            </a:r>
            <a:r>
              <a:rPr kumimoji="0" lang="en-US" sz="2800" b="0" i="0" u="none" strike="noStrike" cap="none" normalizeH="0" baseline="0" dirty="0" smtClean="0">
                <a:ln>
                  <a:noFill/>
                </a:ln>
                <a:solidFill>
                  <a:srgbClr val="000000"/>
                </a:solidFill>
                <a:effectLst/>
                <a:latin typeface="Nunito"/>
                <a:cs typeface="Arial" panose="020B0604020202020204" pitchFamily="34" charset="0"/>
              </a:rPr>
              <a:t> and input voltage </a:t>
            </a:r>
            <a:r>
              <a:rPr kumimoji="0" lang="en-US" sz="28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600" b="0" i="0" u="none" strike="noStrike" cap="none" normalizeH="0" baseline="0" dirty="0" smtClean="0">
                <a:ln>
                  <a:noFill/>
                </a:ln>
                <a:solidFill>
                  <a:srgbClr val="000000"/>
                </a:solidFill>
                <a:effectLst/>
                <a:latin typeface="MathJax_Math-italic"/>
                <a:cs typeface="Arial" panose="020B0604020202020204" pitchFamily="34" charset="0"/>
              </a:rPr>
              <a:t>i</a:t>
            </a:r>
            <a:r>
              <a:rPr kumimoji="0" lang="en-US" sz="2800" b="0" i="0" u="none" strike="noStrike" cap="none" normalizeH="0" baseline="0" dirty="0" smtClean="0">
                <a:ln>
                  <a:noFill/>
                </a:ln>
                <a:solidFill>
                  <a:srgbClr val="000000"/>
                </a:solidFill>
                <a:effectLst/>
                <a:latin typeface="Nunito"/>
                <a:cs typeface="Arial" panose="020B0604020202020204" pitchFamily="34" charset="0"/>
              </a:rPr>
              <a:t> or the voltage-gain or </a:t>
            </a:r>
            <a:r>
              <a:rPr kumimoji="0" lang="en-US" sz="2800" b="1" i="0" u="none" strike="noStrike" cap="none" normalizeH="0" baseline="0" dirty="0" smtClean="0">
                <a:ln>
                  <a:noFill/>
                </a:ln>
                <a:solidFill>
                  <a:srgbClr val="000000"/>
                </a:solidFill>
                <a:effectLst/>
                <a:latin typeface="Nunito"/>
                <a:cs typeface="Arial" panose="020B0604020202020204" pitchFamily="34" charset="0"/>
              </a:rPr>
              <a:t>gain of the non-inverting amplifier</a:t>
            </a:r>
            <a:r>
              <a:rPr kumimoji="0" lang="en-US" sz="2800" b="0" i="0" u="none" strike="noStrike" cap="none" normalizeH="0" baseline="0" dirty="0" smtClean="0">
                <a:ln>
                  <a:noFill/>
                </a:ln>
                <a:solidFill>
                  <a:srgbClr val="000000"/>
                </a:solidFill>
                <a:effectLst/>
                <a:latin typeface="Nunito"/>
                <a:cs typeface="Arial" panose="020B0604020202020204" pitchFamily="34" charset="0"/>
              </a:rPr>
              <a:t> is equal to </a:t>
            </a:r>
            <a:endParaRPr lang="en-US" sz="2800" dirty="0">
              <a:solidFill>
                <a:srgbClr val="000000"/>
              </a:solidFill>
              <a:latin typeface="MathJax_Main"/>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kumimoji="0" lang="en-US" sz="2800" b="0" i="0" u="none" strike="noStrike" cap="none" normalizeH="0" baseline="0" dirty="0" smtClean="0">
              <a:ln>
                <a:noFill/>
              </a:ln>
              <a:solidFill>
                <a:srgbClr val="000000"/>
              </a:solidFill>
              <a:effectLst/>
              <a:latin typeface="MathJax_Main"/>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lang="en-US" sz="2800" dirty="0">
              <a:solidFill>
                <a:srgbClr val="000000"/>
              </a:solidFill>
              <a:latin typeface="MathJax_Main"/>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kumimoji="0" lang="en-US" sz="2800" b="0" i="0" u="none" strike="noStrike" cap="none" normalizeH="0" baseline="0" dirty="0" smtClean="0">
              <a:ln>
                <a:noFill/>
              </a:ln>
              <a:solidFill>
                <a:srgbClr val="000000"/>
              </a:solidFill>
              <a:effectLst/>
              <a:latin typeface="MathJax_Main"/>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lang="en-US" sz="2800" dirty="0">
              <a:solidFill>
                <a:srgbClr val="000000"/>
              </a:solidFill>
              <a:latin typeface="MathJax_Main"/>
              <a:cs typeface="Arial" panose="020B0604020202020204" pitchFamily="34" charset="0"/>
            </a:endParaRPr>
          </a:p>
          <a:p>
            <a:pPr marL="0" marR="0" lvl="0" indent="0" algn="just" defTabSz="914400" rtl="0" eaLnBrk="1" fontAlgn="base" latinLnBrk="0" hangingPunct="1">
              <a:lnSpc>
                <a:spcPct val="100000"/>
              </a:lnSpc>
              <a:spcBef>
                <a:spcPct val="0"/>
              </a:spcBef>
              <a:spcAft>
                <a:spcPct val="0"/>
              </a:spcAft>
              <a:buClrTx/>
              <a:buSzTx/>
              <a:buFontTx/>
              <a:buNone/>
            </a:pPr>
            <a:endParaRPr kumimoji="0" lang="en-US" sz="1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800" b="0" i="0" u="none" strike="noStrike" cap="none" normalizeH="0" baseline="0" dirty="0" smtClean="0">
                <a:ln>
                  <a:noFill/>
                </a:ln>
                <a:solidFill>
                  <a:srgbClr val="000000"/>
                </a:solidFill>
                <a:effectLst/>
                <a:latin typeface="Nunito"/>
                <a:cs typeface="Arial" panose="020B0604020202020204" pitchFamily="34" charset="0"/>
              </a:rPr>
              <a:t>Note that the gain of the non-inverting amplifier is having a </a:t>
            </a:r>
            <a:r>
              <a:rPr kumimoji="0" lang="en-US" sz="2800" b="1" i="0" u="none" strike="noStrike" cap="none" normalizeH="0" baseline="0" dirty="0" smtClean="0">
                <a:ln>
                  <a:noFill/>
                </a:ln>
                <a:solidFill>
                  <a:srgbClr val="000000"/>
                </a:solidFill>
                <a:effectLst/>
                <a:latin typeface="Nunito"/>
                <a:cs typeface="Arial" panose="020B0604020202020204" pitchFamily="34" charset="0"/>
              </a:rPr>
              <a:t>positive sign</a:t>
            </a:r>
            <a:r>
              <a:rPr kumimoji="0" lang="en-US" sz="2800" b="0" i="0" u="none" strike="noStrike" cap="none" normalizeH="0" baseline="0" dirty="0" smtClean="0">
                <a:ln>
                  <a:noFill/>
                </a:ln>
                <a:solidFill>
                  <a:srgbClr val="000000"/>
                </a:solidFill>
                <a:effectLst/>
                <a:latin typeface="Nunito"/>
                <a:cs typeface="Arial" panose="020B0604020202020204" pitchFamily="34" charset="0"/>
              </a:rPr>
              <a:t>. It indicates that there is no phase difference between the input and the output.</a:t>
            </a:r>
            <a:endParaRPr kumimoji="0" lang="en-US" sz="4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1981200"/>
            <a:ext cx="2072723" cy="136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sp>
        <p:nvSpPr>
          <p:cNvPr id="2" name="Rectangle 1"/>
          <p:cNvSpPr/>
          <p:nvPr/>
        </p:nvSpPr>
        <p:spPr>
          <a:xfrm>
            <a:off x="1371600" y="102543"/>
            <a:ext cx="7620000" cy="3139321"/>
          </a:xfrm>
          <a:prstGeom prst="rect">
            <a:avLst/>
          </a:prstGeom>
        </p:spPr>
        <p:txBody>
          <a:bodyPr wrap="square">
            <a:spAutoFit/>
          </a:bodyPr>
          <a:lstStyle/>
          <a:p>
            <a:r>
              <a:rPr lang="en-US" sz="3600" b="1" dirty="0">
                <a:solidFill>
                  <a:srgbClr val="C00000"/>
                </a:solidFill>
              </a:rPr>
              <a:t>Subtractor</a:t>
            </a:r>
            <a:endParaRPr lang="en-US" sz="3600" b="1" dirty="0">
              <a:solidFill>
                <a:srgbClr val="C00000"/>
              </a:solidFill>
            </a:endParaRPr>
          </a:p>
          <a:p>
            <a:r>
              <a:rPr lang="en-US" dirty="0">
                <a:solidFill>
                  <a:schemeClr val="tx1"/>
                </a:solidFill>
              </a:rPr>
              <a:t>A subtractor is an electronic circuit that produces an output, which is equal to the difference of the applied inputs. This section discusses about the op-amp based subtractor circuit.</a:t>
            </a:r>
            <a:endParaRPr lang="en-US" dirty="0">
              <a:solidFill>
                <a:schemeClr val="tx1"/>
              </a:solidFill>
            </a:endParaRPr>
          </a:p>
          <a:p>
            <a:r>
              <a:rPr lang="en-US" dirty="0">
                <a:solidFill>
                  <a:schemeClr val="tx1"/>
                </a:solidFill>
              </a:rPr>
              <a:t>An op-amp based subtractor produces an output equal to the difference of the input voltages applied at its inverting and non-inverting terminals. It is also called as a </a:t>
            </a:r>
            <a:r>
              <a:rPr lang="en-US" b="1" dirty="0">
                <a:solidFill>
                  <a:schemeClr val="tx1"/>
                </a:solidFill>
              </a:rPr>
              <a:t>difference amplifier</a:t>
            </a:r>
            <a:r>
              <a:rPr lang="en-US" dirty="0">
                <a:solidFill>
                  <a:schemeClr val="tx1"/>
                </a:solidFill>
              </a:rPr>
              <a:t>, since the output is an amplified one.</a:t>
            </a:r>
            <a:endParaRPr lang="en-US" dirty="0">
              <a:solidFill>
                <a:schemeClr val="tx1"/>
              </a:solidFill>
            </a:endParaRPr>
          </a:p>
          <a:p>
            <a:r>
              <a:rPr lang="en-US" dirty="0">
                <a:solidFill>
                  <a:schemeClr val="tx1"/>
                </a:solidFill>
              </a:rPr>
              <a:t>The </a:t>
            </a:r>
            <a:r>
              <a:rPr lang="en-US" b="1" dirty="0">
                <a:solidFill>
                  <a:schemeClr val="tx1"/>
                </a:solidFill>
              </a:rPr>
              <a:t>circuit diagram</a:t>
            </a:r>
            <a:r>
              <a:rPr lang="en-US" dirty="0">
                <a:solidFill>
                  <a:schemeClr val="tx1"/>
                </a:solidFill>
              </a:rPr>
              <a:t> of an op-amp based subtractor is shown in the following figure −</a:t>
            </a:r>
            <a:endParaRPr lang="en-US" dirty="0">
              <a:solidFill>
                <a:schemeClr val="tx1"/>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304" y="3241864"/>
            <a:ext cx="4044696" cy="29684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88655" y="3241864"/>
            <a:ext cx="4502945" cy="30446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40693" y="2819400"/>
            <a:ext cx="5495925"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3"/>
          <p:cNvSpPr>
            <a:spLocks noChangeArrowheads="1"/>
          </p:cNvSpPr>
          <p:nvPr/>
        </p:nvSpPr>
        <p:spPr bwMode="auto">
          <a:xfrm>
            <a:off x="1066800" y="382494"/>
            <a:ext cx="7924800"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0000"/>
                </a:solidFill>
                <a:effectLst/>
                <a:latin typeface="Nunito"/>
                <a:cs typeface="Arial" panose="020B0604020202020204" pitchFamily="34" charset="0"/>
              </a:rPr>
              <a:t>Now, let us find the expression for output voltage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0</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of the above circuit using </a:t>
            </a:r>
            <a:r>
              <a:rPr kumimoji="0" lang="en-US" sz="2000" b="1" i="0" u="none" strike="noStrike" cap="none" normalizeH="0" baseline="0" dirty="0" smtClean="0">
                <a:ln>
                  <a:noFill/>
                </a:ln>
                <a:solidFill>
                  <a:srgbClr val="000000"/>
                </a:solidFill>
                <a:effectLst/>
                <a:latin typeface="Nunito"/>
                <a:cs typeface="Arial" panose="020B0604020202020204" pitchFamily="34" charset="0"/>
              </a:rPr>
              <a:t>superposition theorem</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using the following steps −</a:t>
            </a:r>
            <a:endParaRPr kumimoji="0" lang="en-US" sz="2400" b="0" i="0" u="none" strike="noStrike" cap="none" normalizeH="0" baseline="0" dirty="0" smtClean="0">
              <a:ln>
                <a:noFill/>
              </a:ln>
              <a:solidFill>
                <a:schemeClr val="tx1"/>
              </a:solidFill>
              <a:effectLst/>
              <a:latin typeface="Heebo"/>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400" b="0" i="0" u="none" strike="noStrike" cap="none" normalizeH="0" baseline="0" dirty="0" smtClean="0">
                <a:ln>
                  <a:noFill/>
                </a:ln>
                <a:solidFill>
                  <a:srgbClr val="FF0000"/>
                </a:solidFill>
                <a:effectLst/>
                <a:latin typeface="Heebo"/>
                <a:cs typeface="Arial" panose="020B0604020202020204" pitchFamily="34" charset="0"/>
              </a:rPr>
              <a:t>Step 1</a:t>
            </a:r>
            <a:endParaRPr kumimoji="0" lang="en-US" sz="2400" b="0" i="0" u="none" strike="noStrike" cap="none" normalizeH="0" baseline="0" dirty="0" smtClean="0">
              <a:ln>
                <a:noFill/>
              </a:ln>
              <a:solidFill>
                <a:srgbClr val="FF0000"/>
              </a:solidFill>
              <a:effectLst/>
              <a:latin typeface="Heebo"/>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0000"/>
                </a:solidFill>
                <a:effectLst/>
                <a:latin typeface="Nunito"/>
                <a:cs typeface="Arial" panose="020B0604020202020204" pitchFamily="34" charset="0"/>
              </a:rPr>
              <a:t>Firstly, let us calculate the output voltage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01</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by considering only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1</a:t>
            </a:r>
            <a:r>
              <a:rPr kumimoji="0" lang="en-US" sz="2000" b="0" i="0" u="none" strike="noStrike" cap="none" normalizeH="0" baseline="0" dirty="0" smtClean="0">
                <a:ln>
                  <a:noFill/>
                </a:ln>
                <a:solidFill>
                  <a:srgbClr val="000000"/>
                </a:solidFill>
                <a:effectLst/>
                <a:latin typeface="Nunito"/>
                <a:cs typeface="Arial" panose="020B0604020202020204" pitchFamily="34" charset="0"/>
              </a:rPr>
              <a:t>.</a:t>
            </a:r>
            <a:endParaRPr kumimoji="0" lang="en-US" sz="11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0000"/>
                </a:solidFill>
                <a:effectLst/>
                <a:latin typeface="Nunito"/>
                <a:cs typeface="Arial" panose="020B0604020202020204" pitchFamily="34" charset="0"/>
              </a:rPr>
              <a:t>For this, eliminate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2</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by making it short circuit. Then we obtain the </a:t>
            </a:r>
            <a:r>
              <a:rPr kumimoji="0" lang="en-US" sz="2000" b="1" i="0" u="none" strike="noStrike" cap="none" normalizeH="0" baseline="0" dirty="0" smtClean="0">
                <a:ln>
                  <a:noFill/>
                </a:ln>
                <a:solidFill>
                  <a:srgbClr val="000000"/>
                </a:solidFill>
                <a:effectLst/>
                <a:latin typeface="Nunito"/>
                <a:cs typeface="Arial" panose="020B0604020202020204" pitchFamily="34" charset="0"/>
              </a:rPr>
              <a:t>modified circuit diagram</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as shown in the following figure −</a:t>
            </a:r>
            <a:endParaRPr kumimoji="0" lang="en-US" sz="3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040" y="731300"/>
            <a:ext cx="6172200" cy="13699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7252" y="2895600"/>
            <a:ext cx="6172200" cy="137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43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7252" y="4827588"/>
            <a:ext cx="617220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p:nvPr/>
        </p:nvSpPr>
        <p:spPr>
          <a:xfrm>
            <a:off x="1530626" y="70059"/>
            <a:ext cx="7384774" cy="646331"/>
          </a:xfrm>
          <a:prstGeom prst="rect">
            <a:avLst/>
          </a:prstGeom>
        </p:spPr>
        <p:txBody>
          <a:bodyPr wrap="square">
            <a:spAutoFit/>
          </a:bodyPr>
          <a:lstStyle/>
          <a:p>
            <a:r>
              <a:rPr lang="en-US" dirty="0">
                <a:solidFill>
                  <a:schemeClr val="tx1"/>
                </a:solidFill>
              </a:rPr>
              <a:t>Now, using the </a:t>
            </a:r>
            <a:r>
              <a:rPr lang="en-US" b="1" dirty="0">
                <a:solidFill>
                  <a:schemeClr val="tx1"/>
                </a:solidFill>
              </a:rPr>
              <a:t>voltage division principle</a:t>
            </a:r>
            <a:r>
              <a:rPr lang="en-US" dirty="0">
                <a:solidFill>
                  <a:schemeClr val="tx1"/>
                </a:solidFill>
              </a:rPr>
              <a:t>, calculate the voltage at the non-inverting input terminal of the op-amp.</a:t>
            </a:r>
            <a:endParaRPr lang="en-US" dirty="0">
              <a:solidFill>
                <a:schemeClr val="tx1"/>
              </a:solidFill>
            </a:endParaRPr>
          </a:p>
        </p:txBody>
      </p:sp>
      <p:sp>
        <p:nvSpPr>
          <p:cNvPr id="4" name="Rectangle 7"/>
          <p:cNvSpPr>
            <a:spLocks noChangeArrowheads="1"/>
          </p:cNvSpPr>
          <p:nvPr/>
        </p:nvSpPr>
        <p:spPr bwMode="auto">
          <a:xfrm>
            <a:off x="33130" y="2271355"/>
            <a:ext cx="911087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smtClean="0">
                <a:ln>
                  <a:noFill/>
                </a:ln>
                <a:solidFill>
                  <a:srgbClr val="000000"/>
                </a:solidFill>
                <a:effectLst/>
                <a:latin typeface="Nunito"/>
                <a:cs typeface="Arial" panose="020B0604020202020204" pitchFamily="34" charset="0"/>
              </a:rPr>
              <a:t>Now, the above circuit looks like a non-inverting amplifier having input voltage </a:t>
            </a:r>
            <a:r>
              <a:rPr kumimoji="0" lang="en-US" sz="1600" b="0" i="0" u="none" strike="noStrike" cap="none" normalizeH="0" baseline="0" dirty="0" err="1" smtClean="0">
                <a:ln>
                  <a:noFill/>
                </a:ln>
                <a:solidFill>
                  <a:srgbClr val="000000"/>
                </a:solidFill>
                <a:effectLst/>
                <a:latin typeface="MathJax_Math-italic"/>
                <a:cs typeface="Arial" panose="020B0604020202020204" pitchFamily="34" charset="0"/>
              </a:rPr>
              <a:t>V</a:t>
            </a:r>
            <a:r>
              <a:rPr kumimoji="0" lang="en-US" sz="1050" b="0" i="0" u="none" strike="noStrike" cap="none" normalizeH="0" baseline="0" dirty="0" err="1" smtClean="0">
                <a:ln>
                  <a:noFill/>
                </a:ln>
                <a:solidFill>
                  <a:srgbClr val="000000"/>
                </a:solidFill>
                <a:effectLst/>
                <a:latin typeface="MathJax_Math-italic"/>
                <a:cs typeface="Arial" panose="020B0604020202020204" pitchFamily="34" charset="0"/>
              </a:rPr>
              <a:t>p</a:t>
            </a:r>
            <a:r>
              <a:rPr kumimoji="0" lang="en-US" sz="1600" b="0" i="0" u="none" strike="noStrike" cap="none" normalizeH="0" baseline="0" dirty="0" smtClean="0">
                <a:ln>
                  <a:noFill/>
                </a:ln>
                <a:solidFill>
                  <a:srgbClr val="000000"/>
                </a:solidFill>
                <a:effectLst/>
                <a:latin typeface="Nunito"/>
                <a:cs typeface="Arial" panose="020B0604020202020204" pitchFamily="34" charset="0"/>
              </a:rPr>
              <a:t>. Therefore, the output voltage </a:t>
            </a:r>
            <a:r>
              <a:rPr kumimoji="0" lang="en-US" sz="16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050" b="0" i="0" u="none" strike="noStrike" cap="none" normalizeH="0" baseline="0" dirty="0" smtClean="0">
                <a:ln>
                  <a:noFill/>
                </a:ln>
                <a:solidFill>
                  <a:srgbClr val="000000"/>
                </a:solidFill>
                <a:effectLst/>
                <a:latin typeface="MathJax_Main"/>
                <a:cs typeface="Arial" panose="020B0604020202020204" pitchFamily="34" charset="0"/>
              </a:rPr>
              <a:t>01</a:t>
            </a:r>
            <a:r>
              <a:rPr kumimoji="0" lang="en-US" sz="1600" b="0" i="0" u="none" strike="noStrike" cap="none" normalizeH="0" baseline="0" dirty="0" smtClean="0">
                <a:ln>
                  <a:noFill/>
                </a:ln>
                <a:solidFill>
                  <a:srgbClr val="000000"/>
                </a:solidFill>
                <a:effectLst/>
                <a:latin typeface="Nunito"/>
                <a:cs typeface="Arial" panose="020B0604020202020204" pitchFamily="34" charset="0"/>
              </a:rPr>
              <a:t> of above circuit will be</a:t>
            </a:r>
            <a:r>
              <a:rPr kumimoji="0" lang="en-US" sz="1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9" name="Rectangle 8"/>
          <p:cNvSpPr>
            <a:spLocks noChangeArrowheads="1"/>
          </p:cNvSpPr>
          <p:nvPr/>
        </p:nvSpPr>
        <p:spPr bwMode="auto">
          <a:xfrm>
            <a:off x="0" y="4228286"/>
            <a:ext cx="9064176"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2000" b="0" i="0" u="none" strike="noStrike" cap="none" normalizeH="0" baseline="0" dirty="0" smtClean="0">
                <a:ln>
                  <a:noFill/>
                </a:ln>
                <a:solidFill>
                  <a:srgbClr val="000000"/>
                </a:solidFill>
                <a:effectLst/>
                <a:latin typeface="Nunito"/>
                <a:cs typeface="Arial" panose="020B0604020202020204" pitchFamily="34" charset="0"/>
              </a:rPr>
              <a:t>Substitute, the value of </a:t>
            </a:r>
            <a:r>
              <a:rPr kumimoji="0" lang="en-US" sz="2000" b="0" i="0" u="none" strike="noStrike" cap="none" normalizeH="0" baseline="0" dirty="0" err="1"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err="1" smtClean="0">
                <a:ln>
                  <a:noFill/>
                </a:ln>
                <a:solidFill>
                  <a:srgbClr val="000000"/>
                </a:solidFill>
                <a:effectLst/>
                <a:latin typeface="MathJax_Math-italic"/>
                <a:cs typeface="Arial" panose="020B0604020202020204" pitchFamily="34" charset="0"/>
              </a:rPr>
              <a:t>p</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in above equation, we obtain the output voltage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01</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by considering only </a:t>
            </a:r>
            <a:r>
              <a:rPr kumimoji="0" lang="en-US" sz="20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200" b="0" i="0" u="none" strike="noStrike" cap="none" normalizeH="0" baseline="0" dirty="0" smtClean="0">
                <a:ln>
                  <a:noFill/>
                </a:ln>
                <a:solidFill>
                  <a:srgbClr val="000000"/>
                </a:solidFill>
                <a:effectLst/>
                <a:latin typeface="MathJax_Main"/>
                <a:cs typeface="Arial" panose="020B0604020202020204" pitchFamily="34" charset="0"/>
              </a:rPr>
              <a:t>1</a:t>
            </a:r>
            <a:r>
              <a:rPr kumimoji="0" lang="en-US" sz="2000" b="0" i="0" u="none" strike="noStrike" cap="none" normalizeH="0" baseline="0" dirty="0" smtClean="0">
                <a:ln>
                  <a:noFill/>
                </a:ln>
                <a:solidFill>
                  <a:srgbClr val="000000"/>
                </a:solidFill>
                <a:effectLst/>
                <a:latin typeface="Nunito"/>
                <a:cs typeface="Arial" panose="020B0604020202020204" pitchFamily="34" charset="0"/>
              </a:rPr>
              <a:t>, as </a:t>
            </a:r>
            <a:r>
              <a:rPr kumimoji="0" lang="en-US" sz="1400" b="0" i="0" u="none" strike="noStrike" cap="none" normalizeH="0" baseline="0" dirty="0" smtClean="0">
                <a:ln>
                  <a:noFill/>
                </a:ln>
                <a:solidFill>
                  <a:srgbClr val="000000"/>
                </a:solidFill>
                <a:effectLst/>
                <a:latin typeface="Nunito"/>
                <a:cs typeface="Arial" panose="020B0604020202020204" pitchFamily="34" charset="0"/>
              </a:rPr>
              <a:t>−</a:t>
            </a:r>
            <a:r>
              <a:rPr kumimoji="0" lang="en-US" sz="9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4416" y="1143000"/>
            <a:ext cx="1609725" cy="1076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4720050"/>
            <a:ext cx="2808446" cy="1375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9"/>
          <p:cNvSpPr>
            <a:spLocks noChangeArrowheads="1"/>
          </p:cNvSpPr>
          <p:nvPr/>
        </p:nvSpPr>
        <p:spPr bwMode="auto">
          <a:xfrm>
            <a:off x="1143000" y="8692"/>
            <a:ext cx="7620000"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1600" b="0" i="0" u="none" strike="noStrike" cap="none" normalizeH="0" baseline="0" dirty="0" smtClean="0">
                <a:ln>
                  <a:noFill/>
                </a:ln>
                <a:solidFill>
                  <a:srgbClr val="C00000"/>
                </a:solidFill>
                <a:effectLst/>
                <a:latin typeface="Heebo"/>
                <a:cs typeface="Arial" panose="020B0604020202020204" pitchFamily="34" charset="0"/>
              </a:rPr>
              <a:t>Step 2</a:t>
            </a:r>
            <a:endParaRPr kumimoji="0" lang="en-US" sz="1600" b="0" i="0" u="none" strike="noStrike" cap="none" normalizeH="0" baseline="0" dirty="0" smtClean="0">
              <a:ln>
                <a:noFill/>
              </a:ln>
              <a:solidFill>
                <a:srgbClr val="C00000"/>
              </a:solidFill>
              <a:effectLst/>
              <a:latin typeface="Heebo"/>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smtClean="0">
                <a:ln>
                  <a:noFill/>
                </a:ln>
                <a:solidFill>
                  <a:srgbClr val="000000"/>
                </a:solidFill>
                <a:effectLst/>
                <a:latin typeface="Nunito"/>
                <a:cs typeface="Arial" panose="020B0604020202020204" pitchFamily="34" charset="0"/>
              </a:rPr>
              <a:t>In this step, let us find the output voltage, </a:t>
            </a:r>
            <a:r>
              <a:rPr kumimoji="0" lang="en-US" sz="14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000" b="0" i="0" u="none" strike="noStrike" cap="none" normalizeH="0" baseline="0" dirty="0" smtClean="0">
                <a:ln>
                  <a:noFill/>
                </a:ln>
                <a:solidFill>
                  <a:srgbClr val="000000"/>
                </a:solidFill>
                <a:effectLst/>
                <a:latin typeface="MathJax_Main"/>
                <a:cs typeface="Arial" panose="020B0604020202020204" pitchFamily="34" charset="0"/>
              </a:rPr>
              <a:t>02</a:t>
            </a:r>
            <a:r>
              <a:rPr kumimoji="0" lang="en-US" sz="1400" b="0" i="0" u="none" strike="noStrike" cap="none" normalizeH="0" baseline="0" dirty="0" smtClean="0">
                <a:ln>
                  <a:noFill/>
                </a:ln>
                <a:solidFill>
                  <a:srgbClr val="000000"/>
                </a:solidFill>
                <a:effectLst/>
                <a:latin typeface="Nunito"/>
                <a:cs typeface="Arial" panose="020B0604020202020204" pitchFamily="34" charset="0"/>
              </a:rPr>
              <a:t> by considering only </a:t>
            </a:r>
            <a:r>
              <a:rPr kumimoji="0" lang="en-US" sz="14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000" b="0" i="0" u="none" strike="noStrike" cap="none" normalizeH="0" baseline="0" dirty="0" smtClean="0">
                <a:ln>
                  <a:noFill/>
                </a:ln>
                <a:solidFill>
                  <a:srgbClr val="000000"/>
                </a:solidFill>
                <a:effectLst/>
                <a:latin typeface="MathJax_Main"/>
                <a:cs typeface="Arial" panose="020B0604020202020204" pitchFamily="34" charset="0"/>
              </a:rPr>
              <a:t>2</a:t>
            </a:r>
            <a:r>
              <a:rPr kumimoji="0" lang="en-US" sz="1400" b="0" i="0" u="none" strike="noStrike" cap="none" normalizeH="0" baseline="0" dirty="0" smtClean="0">
                <a:ln>
                  <a:noFill/>
                </a:ln>
                <a:solidFill>
                  <a:srgbClr val="000000"/>
                </a:solidFill>
                <a:effectLst/>
                <a:latin typeface="Nunito"/>
                <a:cs typeface="Arial" panose="020B0604020202020204" pitchFamily="34" charset="0"/>
              </a:rPr>
              <a:t> Similar to that in the above step, eliminate </a:t>
            </a:r>
            <a:r>
              <a:rPr kumimoji="0" lang="en-US" sz="14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000" b="0" i="0" u="none" strike="noStrike" cap="none" normalizeH="0" baseline="0" dirty="0" smtClean="0">
                <a:ln>
                  <a:noFill/>
                </a:ln>
                <a:solidFill>
                  <a:srgbClr val="000000"/>
                </a:solidFill>
                <a:effectLst/>
                <a:latin typeface="MathJax_Main"/>
                <a:cs typeface="Arial" panose="020B0604020202020204" pitchFamily="34" charset="0"/>
              </a:rPr>
              <a:t>1</a:t>
            </a:r>
            <a:r>
              <a:rPr kumimoji="0" lang="en-US" sz="1400" b="0" i="0" u="none" strike="noStrike" cap="none" normalizeH="0" baseline="0" dirty="0" smtClean="0">
                <a:ln>
                  <a:noFill/>
                </a:ln>
                <a:solidFill>
                  <a:srgbClr val="000000"/>
                </a:solidFill>
                <a:effectLst/>
                <a:latin typeface="Nunito"/>
                <a:cs typeface="Arial" panose="020B0604020202020204" pitchFamily="34" charset="0"/>
              </a:rPr>
              <a:t> by making it short circuit. </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1537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2494" y="762000"/>
            <a:ext cx="4291012" cy="3345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11"/>
          <p:cNvSpPr>
            <a:spLocks noChangeArrowheads="1"/>
          </p:cNvSpPr>
          <p:nvPr/>
        </p:nvSpPr>
        <p:spPr bwMode="auto">
          <a:xfrm>
            <a:off x="204683" y="3894892"/>
            <a:ext cx="8939317" cy="6771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sz="1600" b="1" i="0" u="none" strike="noStrike" cap="none" normalizeH="0" baseline="0" dirty="0" smtClean="0">
                <a:ln>
                  <a:noFill/>
                </a:ln>
                <a:solidFill>
                  <a:srgbClr val="C00000"/>
                </a:solidFill>
                <a:effectLst/>
                <a:latin typeface="Heebo"/>
                <a:cs typeface="Arial" panose="020B0604020202020204" pitchFamily="34" charset="0"/>
              </a:rPr>
              <a:t>Step 3</a:t>
            </a:r>
            <a:endParaRPr kumimoji="0" lang="en-US" sz="1600" b="1" i="0" u="none" strike="noStrike" cap="none" normalizeH="0" baseline="0" dirty="0" smtClean="0">
              <a:ln>
                <a:noFill/>
              </a:ln>
              <a:solidFill>
                <a:srgbClr val="C00000"/>
              </a:solidFill>
              <a:effectLst/>
              <a:latin typeface="Heebo"/>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sz="1400" b="0" i="0" u="none" strike="noStrike" cap="none" normalizeH="0" baseline="0" dirty="0" smtClean="0">
                <a:ln>
                  <a:noFill/>
                </a:ln>
                <a:solidFill>
                  <a:srgbClr val="000000"/>
                </a:solidFill>
                <a:effectLst/>
                <a:latin typeface="Nunito"/>
                <a:cs typeface="Arial" panose="020B0604020202020204" pitchFamily="34" charset="0"/>
              </a:rPr>
              <a:t>In this step, we will obtain the output voltage </a:t>
            </a:r>
            <a:r>
              <a:rPr kumimoji="0" lang="en-US" sz="1400"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000" b="0" i="0" u="none" strike="noStrike" cap="none" normalizeH="0" baseline="0" dirty="0" smtClean="0">
                <a:ln>
                  <a:noFill/>
                </a:ln>
                <a:solidFill>
                  <a:srgbClr val="000000"/>
                </a:solidFill>
                <a:effectLst/>
                <a:latin typeface="MathJax_Main"/>
                <a:cs typeface="Arial" panose="020B0604020202020204" pitchFamily="34" charset="0"/>
              </a:rPr>
              <a:t>0</a:t>
            </a:r>
            <a:r>
              <a:rPr kumimoji="0" lang="en-US" sz="1400" b="0" i="0" u="none" strike="noStrike" cap="none" normalizeH="0" baseline="0" dirty="0" smtClean="0">
                <a:ln>
                  <a:noFill/>
                </a:ln>
                <a:solidFill>
                  <a:srgbClr val="000000"/>
                </a:solidFill>
                <a:effectLst/>
                <a:latin typeface="Nunito"/>
                <a:cs typeface="Arial" panose="020B0604020202020204" pitchFamily="34" charset="0"/>
              </a:rPr>
              <a:t> of the subtractor circuit by </a:t>
            </a:r>
            <a:r>
              <a:rPr kumimoji="0" lang="en-US" sz="1400" b="1" i="0" u="none" strike="noStrike" cap="none" normalizeH="0" baseline="0" dirty="0" smtClean="0">
                <a:ln>
                  <a:noFill/>
                </a:ln>
                <a:solidFill>
                  <a:srgbClr val="000000"/>
                </a:solidFill>
                <a:effectLst/>
                <a:latin typeface="Nunito"/>
                <a:cs typeface="Arial" panose="020B0604020202020204" pitchFamily="34" charset="0"/>
              </a:rPr>
              <a:t>adding the output voltages</a:t>
            </a:r>
            <a:r>
              <a:rPr kumimoji="0" lang="en-US" sz="1400" b="0" i="0" u="none" strike="noStrike" cap="none" normalizeH="0" baseline="0" dirty="0" smtClean="0">
                <a:ln>
                  <a:noFill/>
                </a:ln>
                <a:solidFill>
                  <a:srgbClr val="000000"/>
                </a:solidFill>
                <a:effectLst/>
                <a:latin typeface="Nunito"/>
                <a:cs typeface="Arial" panose="020B0604020202020204" pitchFamily="34" charset="0"/>
              </a:rPr>
              <a:t> obtained in Step1 and Step2. Mathematically, it can be written as</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983C8387-AC7A-47D3-9D9E-41AA4712405B}" type="slidenum">
              <a:rPr lang="en-US"/>
            </a:fld>
            <a:endParaRPr lang="en-US"/>
          </a:p>
        </p:txBody>
      </p:sp>
      <p:pic>
        <p:nvPicPr>
          <p:cNvPr id="6" name="Picture 2" descr="D:\D\ADMIN\OFFICELETTER\SCOE Logo.pn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8425" y="103189"/>
            <a:ext cx="968375" cy="119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1"/>
          <p:cNvSpPr txBox="1"/>
          <p:nvPr/>
        </p:nvSpPr>
        <p:spPr bwMode="auto">
          <a:xfrm>
            <a:off x="1953418" y="6303963"/>
            <a:ext cx="5283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sz="1400" dirty="0">
                <a:solidFill>
                  <a:srgbClr val="FF0000"/>
                </a:solidFill>
              </a:rPr>
              <a:t>Prof. D. G. </a:t>
            </a:r>
            <a:r>
              <a:rPr lang="en-US" sz="1400" dirty="0" err="1">
                <a:solidFill>
                  <a:srgbClr val="FF0000"/>
                </a:solidFill>
              </a:rPr>
              <a:t>Lokhande</a:t>
            </a:r>
            <a:r>
              <a:rPr lang="en-US" sz="1400" dirty="0">
                <a:solidFill>
                  <a:srgbClr val="FF0000"/>
                </a:solidFill>
              </a:rPr>
              <a:t> Department of E &amp; </a:t>
            </a:r>
            <a:r>
              <a:rPr lang="en-US" sz="1400" dirty="0" err="1">
                <a:solidFill>
                  <a:srgbClr val="FF0000"/>
                </a:solidFill>
              </a:rPr>
              <a:t>Tc</a:t>
            </a:r>
            <a:r>
              <a:rPr lang="en-US" sz="1400" dirty="0">
                <a:solidFill>
                  <a:srgbClr val="FF0000"/>
                </a:solidFill>
              </a:rPr>
              <a:t> </a:t>
            </a:r>
            <a:r>
              <a:rPr lang="en-US" sz="1400" dirty="0" err="1">
                <a:solidFill>
                  <a:srgbClr val="FF0000"/>
                </a:solidFill>
              </a:rPr>
              <a:t>Engg</a:t>
            </a:r>
            <a:r>
              <a:rPr lang="en-US" sz="1400" dirty="0">
                <a:solidFill>
                  <a:srgbClr val="FF0000"/>
                </a:solidFill>
              </a:rPr>
              <a:t>.</a:t>
            </a:r>
            <a:endParaRPr lang="en-US" sz="1400" dirty="0">
              <a:solidFill>
                <a:srgbClr val="FF0000"/>
              </a:solidFill>
            </a:endParaRPr>
          </a:p>
        </p:txBody>
      </p:sp>
      <p:sp>
        <p:nvSpPr>
          <p:cNvPr id="8" name="Slide Number Placeholder 2"/>
          <p:cNvSpPr txBox="1"/>
          <p:nvPr/>
        </p:nvSpPr>
        <p:spPr>
          <a:xfrm>
            <a:off x="146304" y="6210300"/>
            <a:ext cx="768096" cy="457200"/>
          </a:xfrm>
          <a:prstGeom prst="ellipse">
            <a:avLst/>
          </a:prstGeom>
          <a:solidFill>
            <a:srgbClr val="C00000"/>
          </a:solidFill>
        </p:spPr>
        <p:txBody>
          <a:bodyPr/>
          <a:lstStyle>
            <a:defPPr>
              <a:defRPr lang="en-GB"/>
            </a:defPPr>
            <a:lvl1pPr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1pPr>
            <a:lvl2pPr marL="742950" indent="-28575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2pPr>
            <a:lvl3pPr marL="11430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3pPr>
            <a:lvl4pPr marL="16002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4pPr>
            <a:lvl5pPr marL="2057400" indent="-228600" algn="l" defTabSz="448945" rtl="0" fontAlgn="base">
              <a:spcBef>
                <a:spcPct val="0"/>
              </a:spcBef>
              <a:spcAft>
                <a:spcPct val="0"/>
              </a:spcAft>
              <a:buClr>
                <a:srgbClr val="000000"/>
              </a:buClr>
              <a:buSzPct val="100000"/>
              <a:buFont typeface="Times New Roman" panose="02020603050405020304" pitchFamily="16" charset="0"/>
              <a:defRPr kern="1200">
                <a:solidFill>
                  <a:schemeClr val="bg1"/>
                </a:solidFill>
                <a:latin typeface="Arial" panose="020B0604020202020204" pitchFamily="34" charset="0"/>
                <a:ea typeface="+mn-ea"/>
                <a:cs typeface="+mn-cs"/>
              </a:defRPr>
            </a:lvl5pPr>
            <a:lvl6pPr marL="2286000" algn="l" defTabSz="914400" rtl="0" eaLnBrk="1" latinLnBrk="0" hangingPunct="1">
              <a:defRPr kern="1200">
                <a:solidFill>
                  <a:schemeClr val="bg1"/>
                </a:solidFill>
                <a:latin typeface="Arial" panose="020B0604020202020204" pitchFamily="34" charset="0"/>
                <a:ea typeface="+mn-ea"/>
                <a:cs typeface="+mn-cs"/>
              </a:defRPr>
            </a:lvl6pPr>
            <a:lvl7pPr marL="2743200" algn="l" defTabSz="914400" rtl="0" eaLnBrk="1" latinLnBrk="0" hangingPunct="1">
              <a:defRPr kern="1200">
                <a:solidFill>
                  <a:schemeClr val="bg1"/>
                </a:solidFill>
                <a:latin typeface="Arial" panose="020B0604020202020204" pitchFamily="34" charset="0"/>
                <a:ea typeface="+mn-ea"/>
                <a:cs typeface="+mn-cs"/>
              </a:defRPr>
            </a:lvl7pPr>
            <a:lvl8pPr marL="3200400" algn="l" defTabSz="914400" rtl="0" eaLnBrk="1" latinLnBrk="0" hangingPunct="1">
              <a:defRPr kern="1200">
                <a:solidFill>
                  <a:schemeClr val="bg1"/>
                </a:solidFill>
                <a:latin typeface="Arial" panose="020B0604020202020204" pitchFamily="34" charset="0"/>
                <a:ea typeface="+mn-ea"/>
                <a:cs typeface="+mn-cs"/>
              </a:defRPr>
            </a:lvl8pPr>
            <a:lvl9pPr marL="3657600" algn="l" defTabSz="914400" rtl="0" eaLnBrk="1" latinLnBrk="0" hangingPunct="1">
              <a:defRPr kern="1200">
                <a:solidFill>
                  <a:schemeClr val="bg1"/>
                </a:solidFill>
                <a:latin typeface="Arial" panose="020B0604020202020204" pitchFamily="34" charset="0"/>
                <a:ea typeface="+mn-ea"/>
                <a:cs typeface="+mn-cs"/>
              </a:defRPr>
            </a:lvl9pPr>
          </a:lstStyle>
          <a:p>
            <a:pPr>
              <a:defRPr/>
            </a:pPr>
            <a:fld id="{43A55AB5-51CA-44AF-A250-1789B43AD1DF}" type="slidenum">
              <a:rPr lang="en-US" smtClean="0"/>
            </a:fld>
            <a:endParaRPr lang="en-US" dirty="0"/>
          </a:p>
        </p:txBody>
      </p:sp>
      <p:pic>
        <p:nvPicPr>
          <p:cNvPr id="9"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2721966"/>
            <a:ext cx="5181600" cy="13092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05629"/>
            <a:ext cx="5181600" cy="1318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ectangle 1"/>
          <p:cNvSpPr>
            <a:spLocks noChangeArrowheads="1"/>
          </p:cNvSpPr>
          <p:nvPr/>
        </p:nvSpPr>
        <p:spPr bwMode="auto">
          <a:xfrm>
            <a:off x="1846360" y="1828800"/>
            <a:ext cx="540885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just" defTabSz="914400" rtl="0" eaLnBrk="1" fontAlgn="base" latinLnBrk="0" hangingPunct="1">
              <a:lnSpc>
                <a:spcPct val="100000"/>
              </a:lnSpc>
              <a:spcBef>
                <a:spcPct val="0"/>
              </a:spcBef>
              <a:spcAft>
                <a:spcPct val="0"/>
              </a:spcAft>
              <a:buClrTx/>
              <a:buSzTx/>
              <a:buFontTx/>
              <a:buNone/>
            </a:pPr>
            <a:r>
              <a:rPr kumimoji="0" lang="en-US" b="0" i="0" u="none" strike="noStrike" cap="none" normalizeH="0" baseline="0" dirty="0" smtClean="0">
                <a:ln>
                  <a:noFill/>
                </a:ln>
                <a:solidFill>
                  <a:srgbClr val="000000"/>
                </a:solidFill>
                <a:effectLst/>
                <a:latin typeface="Nunito"/>
                <a:cs typeface="Arial" panose="020B0604020202020204" pitchFamily="34" charset="0"/>
              </a:rPr>
              <a:t> </a:t>
            </a:r>
            <a:r>
              <a:rPr kumimoji="0" lang="en-US" b="0" i="0" u="none" strike="noStrike" cap="none" normalizeH="0" baseline="0" dirty="0" err="1" smtClean="0">
                <a:ln>
                  <a:noFill/>
                </a:ln>
                <a:solidFill>
                  <a:srgbClr val="000000"/>
                </a:solidFill>
                <a:effectLst/>
                <a:latin typeface="MathJax_Math-italic"/>
                <a:cs typeface="Arial" panose="020B0604020202020204" pitchFamily="34" charset="0"/>
              </a:rPr>
              <a:t>R</a:t>
            </a:r>
            <a:r>
              <a:rPr kumimoji="0" lang="en-US" sz="1100" b="0" i="0" u="none" strike="noStrike" cap="none" normalizeH="0" baseline="0" dirty="0" err="1" smtClean="0">
                <a:ln>
                  <a:noFill/>
                </a:ln>
                <a:solidFill>
                  <a:srgbClr val="000000"/>
                </a:solidFill>
                <a:effectLst/>
                <a:latin typeface="MathJax_Math-italic"/>
                <a:cs typeface="Arial" panose="020B0604020202020204" pitchFamily="34" charset="0"/>
              </a:rPr>
              <a:t>f</a:t>
            </a:r>
            <a:r>
              <a:rPr kumimoji="0" lang="en-US" b="0" i="0" u="none" strike="noStrike" cap="none" normalizeH="0" baseline="0" dirty="0" smtClean="0">
                <a:ln>
                  <a:noFill/>
                </a:ln>
                <a:solidFill>
                  <a:srgbClr val="000000"/>
                </a:solidFill>
                <a:effectLst/>
                <a:latin typeface="MathJax_Main"/>
                <a:cs typeface="Arial" panose="020B0604020202020204" pitchFamily="34" charset="0"/>
              </a:rPr>
              <a:t>=</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R</a:t>
            </a:r>
            <a:r>
              <a:rPr kumimoji="0" lang="en-US" sz="1100" b="0" i="0" u="none" strike="noStrike" cap="none" normalizeH="0" baseline="0" dirty="0" smtClean="0">
                <a:ln>
                  <a:noFill/>
                </a:ln>
                <a:solidFill>
                  <a:srgbClr val="000000"/>
                </a:solidFill>
                <a:effectLst/>
                <a:latin typeface="MathJax_Main"/>
                <a:cs typeface="Arial" panose="020B0604020202020204" pitchFamily="34" charset="0"/>
              </a:rPr>
              <a:t>1</a:t>
            </a:r>
            <a:r>
              <a:rPr kumimoji="0" lang="en-US" b="0" i="0" u="none" strike="noStrike" cap="none" normalizeH="0" baseline="0" dirty="0" smtClean="0">
                <a:ln>
                  <a:noFill/>
                </a:ln>
                <a:solidFill>
                  <a:srgbClr val="000000"/>
                </a:solidFill>
                <a:effectLst/>
                <a:latin typeface="MathJax_Main"/>
                <a:cs typeface="Arial" panose="020B0604020202020204" pitchFamily="34" charset="0"/>
              </a:rPr>
              <a:t>=</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R</a:t>
            </a:r>
            <a:r>
              <a:rPr kumimoji="0" lang="en-US" sz="1100" b="0" i="0" u="none" strike="noStrike" cap="none" normalizeH="0" baseline="0" dirty="0" smtClean="0">
                <a:ln>
                  <a:noFill/>
                </a:ln>
                <a:solidFill>
                  <a:srgbClr val="000000"/>
                </a:solidFill>
                <a:effectLst/>
                <a:latin typeface="MathJax_Main"/>
                <a:cs typeface="Arial" panose="020B0604020202020204" pitchFamily="34" charset="0"/>
              </a:rPr>
              <a:t>2</a:t>
            </a:r>
            <a:r>
              <a:rPr kumimoji="0" lang="en-US" b="0" i="0" u="none" strike="noStrike" cap="none" normalizeH="0" baseline="0" dirty="0" smtClean="0">
                <a:ln>
                  <a:noFill/>
                </a:ln>
                <a:solidFill>
                  <a:srgbClr val="000000"/>
                </a:solidFill>
                <a:effectLst/>
                <a:latin typeface="MathJax_Main"/>
                <a:cs typeface="Arial" panose="020B0604020202020204" pitchFamily="34" charset="0"/>
              </a:rPr>
              <a:t>=</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R</a:t>
            </a:r>
            <a:r>
              <a:rPr kumimoji="0" lang="en-US" sz="1100" b="0" i="0" u="none" strike="noStrike" cap="none" normalizeH="0" baseline="0" dirty="0" smtClean="0">
                <a:ln>
                  <a:noFill/>
                </a:ln>
                <a:solidFill>
                  <a:srgbClr val="000000"/>
                </a:solidFill>
                <a:effectLst/>
                <a:latin typeface="MathJax_Main"/>
                <a:cs typeface="Arial" panose="020B0604020202020204" pitchFamily="34" charset="0"/>
              </a:rPr>
              <a:t>3</a:t>
            </a:r>
            <a:r>
              <a:rPr kumimoji="0" lang="en-US" b="0" i="0" u="none" strike="noStrike" cap="none" normalizeH="0" baseline="0" dirty="0" smtClean="0">
                <a:ln>
                  <a:noFill/>
                </a:ln>
                <a:solidFill>
                  <a:srgbClr val="000000"/>
                </a:solidFill>
                <a:effectLst/>
                <a:latin typeface="MathJax_Main"/>
                <a:cs typeface="Arial" panose="020B0604020202020204" pitchFamily="34" charset="0"/>
              </a:rPr>
              <a:t>=</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R</a:t>
            </a:r>
            <a:r>
              <a:rPr kumimoji="0" lang="en-US" b="0" i="0" u="none" strike="noStrike" cap="none" normalizeH="0" baseline="0" dirty="0" smtClean="0">
                <a:ln>
                  <a:noFill/>
                </a:ln>
                <a:solidFill>
                  <a:srgbClr val="000000"/>
                </a:solidFill>
                <a:effectLst/>
                <a:latin typeface="Nunito"/>
                <a:cs typeface="Arial" panose="020B0604020202020204" pitchFamily="34" charset="0"/>
              </a:rPr>
              <a:t>, then the output voltage </a:t>
            </a:r>
            <a:r>
              <a:rPr kumimoji="0" lang="en-US" b="0" i="0" u="none" strike="noStrike" cap="none" normalizeH="0" baseline="0" dirty="0" smtClean="0">
                <a:ln>
                  <a:noFill/>
                </a:ln>
                <a:solidFill>
                  <a:srgbClr val="000000"/>
                </a:solidFill>
                <a:effectLst/>
                <a:latin typeface="MathJax_Math-italic"/>
                <a:cs typeface="Arial" panose="020B0604020202020204" pitchFamily="34" charset="0"/>
              </a:rPr>
              <a:t>V</a:t>
            </a:r>
            <a:r>
              <a:rPr kumimoji="0" lang="en-US" sz="1100" b="0" i="0" u="none" strike="noStrike" cap="none" normalizeH="0" baseline="0" dirty="0" smtClean="0">
                <a:ln>
                  <a:noFill/>
                </a:ln>
                <a:solidFill>
                  <a:srgbClr val="000000"/>
                </a:solidFill>
                <a:effectLst/>
                <a:latin typeface="MathJax_Main"/>
                <a:cs typeface="Arial" panose="020B0604020202020204" pitchFamily="34" charset="0"/>
              </a:rPr>
              <a:t>0</a:t>
            </a:r>
            <a:r>
              <a:rPr kumimoji="0" lang="en-US" b="0" i="0" u="none" strike="noStrike" cap="none" normalizeH="0" baseline="0" dirty="0" smtClean="0">
                <a:ln>
                  <a:noFill/>
                </a:ln>
                <a:solidFill>
                  <a:srgbClr val="000000"/>
                </a:solidFill>
                <a:effectLst/>
                <a:latin typeface="Nunito"/>
                <a:cs typeface="Arial" panose="020B0604020202020204" pitchFamily="34" charset="0"/>
              </a:rPr>
              <a:t> will be</a:t>
            </a:r>
            <a:r>
              <a:rPr kumimoji="0" lang="en-US" sz="105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sz="2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12"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86000" y="4343400"/>
            <a:ext cx="5181600" cy="942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3" name="Picture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12435" y="5348659"/>
            <a:ext cx="2616777" cy="956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8" descr="http://www.sanjivanicoe.org.in/wp-content/uploads/2015/07/College-Campus-008.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9"/>
          <p:cNvSpPr txBox="1">
            <a:spLocks noChangeArrowheads="1"/>
          </p:cNvSpPr>
          <p:nvPr/>
        </p:nvSpPr>
        <p:spPr bwMode="auto">
          <a:xfrm>
            <a:off x="2129631" y="5486400"/>
            <a:ext cx="48847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sz="6000" dirty="0">
                <a:solidFill>
                  <a:srgbClr val="FF0000"/>
                </a:solidFill>
                <a:latin typeface="Arial Black" panose="020B0A04020102020204" pitchFamily="34" charset="0"/>
              </a:rPr>
              <a:t>Thank You!</a:t>
            </a:r>
            <a:endParaRPr lang="en-US" sz="6000" dirty="0">
              <a:solidFill>
                <a:srgbClr val="FF0000"/>
              </a:solidFill>
            </a:endParaRPr>
          </a:p>
        </p:txBody>
      </p:sp>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81450" y="4029075"/>
            <a:ext cx="1181100" cy="126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pPr>
              <a:defRPr/>
            </a:pPr>
            <a:fld id="{43A55AB5-51CA-44AF-A250-1789B43AD1DF}" type="slidenum">
              <a:rPr lang="en-US" smtClean="0"/>
            </a:fld>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WenQuanYi Micro Hei"/>
        <a:cs typeface="WenQuanYi Micro Hei"/>
      </a:majorFont>
      <a:minorFont>
        <a:latin typeface="Constantia"/>
        <a:ea typeface="WenQuanYi Micro Hei"/>
        <a:cs typeface="WenQuanYi Micro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8945"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8945"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alibri"/>
        <a:ea typeface="WenQuanYi Micro Hei"/>
        <a:cs typeface="WenQuanYi Micro Hei"/>
      </a:majorFont>
      <a:minorFont>
        <a:latin typeface="Constantia"/>
        <a:ea typeface="WenQuanYi Micro Hei"/>
        <a:cs typeface="WenQuanYi Micro He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8945"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448945" rtl="0" eaLnBrk="1" fontAlgn="base" latinLnBrk="0" hangingPunct="1">
          <a:lnSpc>
            <a:spcPct val="100000"/>
          </a:lnSpc>
          <a:spcBef>
            <a:spcPct val="0"/>
          </a:spcBef>
          <a:spcAft>
            <a:spcPct val="0"/>
          </a:spcAft>
          <a:buClr>
            <a:srgbClr val="000000"/>
          </a:buClr>
          <a:buSzPct val="100000"/>
          <a:buFont typeface="Times New Roman" panose="02020603050405020304" pitchFamily="16" charset="0"/>
          <a:buNone/>
          <a:defRPr kumimoji="0" lang="en-GB" sz="1800" b="0" i="0" u="none" strike="noStrike" cap="none" normalizeH="0" baseline="0" smtClean="0">
            <a:ln>
              <a:noFill/>
            </a:ln>
            <a:solidFill>
              <a:schemeClr val="bg1"/>
            </a:solidFill>
            <a:effectLst/>
            <a:latin typeface="Arial" panose="020B0604020202020204" pitchFamily="34"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23263</Words>
  <Application>WPS Presentation</Application>
  <PresentationFormat>On-screen Show (4:3)</PresentationFormat>
  <Paragraphs>590</Paragraphs>
  <Slides>53</Slides>
  <Notes>0</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53</vt:i4>
      </vt:variant>
    </vt:vector>
  </HeadingPairs>
  <TitlesOfParts>
    <vt:vector size="74" baseType="lpstr">
      <vt:lpstr>Arial</vt:lpstr>
      <vt:lpstr>SimSun</vt:lpstr>
      <vt:lpstr>Wingdings</vt:lpstr>
      <vt:lpstr>Times New Roman</vt:lpstr>
      <vt:lpstr>DejaVu Sans</vt:lpstr>
      <vt:lpstr>Calibri</vt:lpstr>
      <vt:lpstr>WenQuanYi Micro Hei</vt:lpstr>
      <vt:lpstr>Segoe Print</vt:lpstr>
      <vt:lpstr>Microsoft YaHei</vt:lpstr>
      <vt:lpstr>Arial Unicode MS</vt:lpstr>
      <vt:lpstr>Lato</vt:lpstr>
      <vt:lpstr>Nunito</vt:lpstr>
      <vt:lpstr>MathJax_Math-italic</vt:lpstr>
      <vt:lpstr>Arial Black</vt:lpstr>
      <vt:lpstr>Segoe UI</vt:lpstr>
      <vt:lpstr>Heebo</vt:lpstr>
      <vt:lpstr>MathJax_Main</vt:lpstr>
      <vt:lpstr>Constantia</vt:lpstr>
      <vt:lpstr>Office Theme</vt:lpstr>
      <vt:lpstr>1_Office Theme</vt:lpstr>
      <vt:lpstr>2_Office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Rectifiers</vt:lpstr>
      <vt:lpstr>Need of Rectification</vt:lpstr>
      <vt:lpstr>Types of Rectifier</vt:lpstr>
      <vt:lpstr>Full Wave Rectifier (Center Tapped Transformer)</vt:lpstr>
      <vt:lpstr>PowerPoint 演示文稿</vt:lpstr>
      <vt:lpstr>PowerPoint 演示文稿</vt:lpstr>
      <vt:lpstr>Full Wave Rectifier (Bridge)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Analog Circuits</dc:title>
  <dc:creator>Mr. D. G. Lokhande</dc:creator>
  <cp:keywords>BXE</cp:keywords>
  <dc:subject>Basic Electronics Engineering</dc:subject>
  <cp:category>FY B. Tech</cp:category>
  <cp:lastModifiedBy>student</cp:lastModifiedBy>
  <cp:revision>266</cp:revision>
  <cp:lastPrinted>2113-01-01T00:00:00Z</cp:lastPrinted>
  <dcterms:created xsi:type="dcterms:W3CDTF">2010-08-06T06:20:00Z</dcterms:created>
  <dcterms:modified xsi:type="dcterms:W3CDTF">2024-02-05T08:52:13Z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1033-12.2.0.13431</vt:lpwstr>
  </property>
  <property fmtid="{D5CDD505-2E9C-101B-9397-08002B2CF9AE}" pid="3" name="ICV">
    <vt:lpwstr>8436B33B22204FCFAA96A4FAD1474AD6</vt:lpwstr>
  </property>
</Properties>
</file>